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17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669235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864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DATA SCIENCE TRACK • FINAL GRADUATION PROJECT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5097"/>
            <a:ext cx="4754835" cy="1036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</a:t>
            </a:r>
            <a:endParaRPr lang="en-US" sz="3600" dirty="0"/>
          </a:p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Prediction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35063"/>
            <a:ext cx="428625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56520"/>
            <a:ext cx="3857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retail demand intelligence for inventory, staffing, and supply-chain decisions.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457200" y="3589734"/>
            <a:ext cx="187452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3736181"/>
            <a:ext cx="13730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Data Science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00225" y="3589734"/>
            <a:ext cx="160835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00225" y="3736181"/>
            <a:ext cx="128873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Kaggle Favorita — 3M+ rows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43250" y="3589734"/>
            <a:ext cx="187452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43250" y="3736181"/>
            <a:ext cx="14996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July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236244"/>
            <a:ext cx="4754835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0893" y="4414838"/>
            <a:ext cx="88676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SUBMITTED BY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543425"/>
            <a:ext cx="1325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3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Science Capstone Team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3293046" y="4421981"/>
            <a:ext cx="1918990" cy="228600"/>
          </a:xfrm>
          <a:prstGeom prst="roundRect">
            <a:avLst>
              <a:gd name="adj" fmla="val 4162500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50221" y="4479131"/>
            <a:ext cx="1661815" cy="146304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· FastAPI · Streamlit · MLflow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393058" y="44862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5669235" y="0"/>
            <a:ext cx="3474653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69235" y="0"/>
            <a:ext cx="28575" cy="5143500"/>
          </a:xfrm>
          <a:prstGeom prst="rect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15251" y="22860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00976" y="22860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786701" y="22860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72426" y="22860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15251" y="31432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700976" y="31432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786701" y="31432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72426" y="31432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615251" y="40005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700976" y="40005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786701" y="40005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872426" y="400050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15251" y="48577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700976" y="48577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786701" y="48577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872426" y="485775"/>
            <a:ext cx="42863" cy="42863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12135" y="776883"/>
            <a:ext cx="2788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SNAPSHOT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2135" y="1094780"/>
            <a:ext cx="2788853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kern="0" spc="-5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</a:t>
            </a:r>
            <a:endParaRPr lang="en-US" sz="2925" dirty="0"/>
          </a:p>
        </p:txBody>
      </p:sp>
      <p:sp>
        <p:nvSpPr>
          <p:cNvPr id="39" name="Text 37"/>
          <p:cNvSpPr/>
          <p:nvPr/>
        </p:nvSpPr>
        <p:spPr>
          <a:xfrm>
            <a:off x="6012135" y="1509117"/>
            <a:ext cx="278885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2135" y="1655564"/>
            <a:ext cx="2788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Holdout fit quality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12135" y="1955602"/>
            <a:ext cx="2788853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kern="0" spc="-5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2925" dirty="0"/>
          </a:p>
        </p:txBody>
      </p:sp>
      <p:sp>
        <p:nvSpPr>
          <p:cNvPr id="42" name="Text 40"/>
          <p:cNvSpPr/>
          <p:nvPr/>
        </p:nvSpPr>
        <p:spPr>
          <a:xfrm>
            <a:off x="6012135" y="2369939"/>
            <a:ext cx="278885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12135" y="2516386"/>
            <a:ext cx="2788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unit-sales error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12135" y="2816423"/>
            <a:ext cx="2788853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kern="0" spc="-5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endParaRPr lang="en-US" sz="2925" dirty="0"/>
          </a:p>
        </p:txBody>
      </p:sp>
      <p:sp>
        <p:nvSpPr>
          <p:cNvPr id="45" name="Text 43"/>
          <p:cNvSpPr/>
          <p:nvPr/>
        </p:nvSpPr>
        <p:spPr>
          <a:xfrm>
            <a:off x="6012135" y="3230761"/>
            <a:ext cx="278885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2135" y="3377208"/>
            <a:ext cx="2788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Ecuador-wide coverage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12135" y="3677245"/>
            <a:ext cx="2788853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kern="0" spc="-5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</a:t>
            </a:r>
            <a:endParaRPr lang="en-US" sz="2925" dirty="0"/>
          </a:p>
        </p:txBody>
      </p:sp>
      <p:sp>
        <p:nvSpPr>
          <p:cNvPr id="48" name="Text 46"/>
          <p:cNvSpPr/>
          <p:nvPr/>
        </p:nvSpPr>
        <p:spPr>
          <a:xfrm>
            <a:off x="6012135" y="4091583"/>
            <a:ext cx="278885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FAMILIES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12135" y="4238030"/>
            <a:ext cx="2788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categories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guided walkthrough — problem → data → insights → features → models → operations → value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6472" y="77152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88939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4344" y="114657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Business Problem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64344" y="132338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forecasting matters, operational cost of poor prediction, scope.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82453" y="77152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00325" y="88939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0325" y="114657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Foundation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2600325" y="132338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Source, structure, cleaning pipeline, merge logic.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8434" y="77152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6306" y="88939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6306" y="114657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736306" y="132338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trends, seasonality, holiday effects, external drivers.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54416" y="77152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2288" y="88939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72288" y="114657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Engineering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872288" y="132338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Time, holiday, external signals, importance ranking.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6472" y="254317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4344" y="266104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4344" y="291822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Modeling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464344" y="309503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selection, time-aware validation, comparison, winner.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82453" y="254317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00325" y="266104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00325" y="291822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MLOps &amp; Deployment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2600325" y="3095030"/>
            <a:ext cx="180736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Monitoring, drift detection, API, dashboard, retraining.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18434" y="2543175"/>
            <a:ext cx="2043113" cy="1678781"/>
          </a:xfrm>
          <a:prstGeom prst="roundRect">
            <a:avLst>
              <a:gd name="adj" fmla="val 567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6306" y="2661047"/>
            <a:ext cx="180736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E8ED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36306" y="2918222"/>
            <a:ext cx="18073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 &amp; Future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736306" y="3095030"/>
            <a:ext cx="191581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value, ROI, challenges, next steps.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750844" y="2539603"/>
            <a:ext cx="2050256" cy="1685925"/>
          </a:xfrm>
          <a:prstGeom prst="roundRect">
            <a:avLst>
              <a:gd name="adj" fmla="val 5650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761559" y="2539603"/>
            <a:ext cx="0" cy="1685925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Text 33"/>
          <p:cNvSpPr/>
          <p:nvPr/>
        </p:nvSpPr>
        <p:spPr>
          <a:xfrm>
            <a:off x="6886575" y="2653903"/>
            <a:ext cx="18002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NARRATIVE ARC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86575" y="2814638"/>
            <a:ext cx="1908238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connected story, not seven silos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86575" y="2987427"/>
            <a:ext cx="180022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chapter answers a question the previous one raised.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6472" y="4329113"/>
            <a:ext cx="8451056" cy="425053"/>
          </a:xfrm>
          <a:prstGeom prst="roundRect">
            <a:avLst>
              <a:gd name="adj" fmla="val 2240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771" y="4419895"/>
            <a:ext cx="789340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4375" y="4496991"/>
            <a:ext cx="69897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1500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984" dirty="0"/>
          </a:p>
        </p:txBody>
      </p:sp>
      <p:sp>
        <p:nvSpPr>
          <p:cNvPr id="42" name="Text 40"/>
          <p:cNvSpPr/>
          <p:nvPr/>
        </p:nvSpPr>
        <p:spPr>
          <a:xfrm>
            <a:off x="1427634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1739802" y="4419895"/>
            <a:ext cx="591663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997459" y="4496991"/>
            <a:ext cx="50318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54584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2514935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2826045" y="4419895"/>
            <a:ext cx="770699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084649" y="4496991"/>
            <a:ext cx="68033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941774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50" name="Text 48"/>
          <p:cNvSpPr/>
          <p:nvPr/>
        </p:nvSpPr>
        <p:spPr>
          <a:xfrm>
            <a:off x="3779267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4090489" y="4419895"/>
            <a:ext cx="817133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349093" y="4496991"/>
            <a:ext cx="72676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06218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84" dirty="0"/>
          </a:p>
        </p:txBody>
      </p:sp>
      <p:sp>
        <p:nvSpPr>
          <p:cNvPr id="54" name="Text 52"/>
          <p:cNvSpPr/>
          <p:nvPr/>
        </p:nvSpPr>
        <p:spPr>
          <a:xfrm>
            <a:off x="5090145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55" name="Text 53"/>
          <p:cNvSpPr/>
          <p:nvPr/>
        </p:nvSpPr>
        <p:spPr>
          <a:xfrm>
            <a:off x="5401255" y="4419895"/>
            <a:ext cx="729399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659859" y="4496991"/>
            <a:ext cx="63903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16984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984" dirty="0"/>
          </a:p>
        </p:txBody>
      </p:sp>
      <p:sp>
        <p:nvSpPr>
          <p:cNvPr id="58" name="Text 56"/>
          <p:cNvSpPr/>
          <p:nvPr/>
        </p:nvSpPr>
        <p:spPr>
          <a:xfrm>
            <a:off x="6313177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6624399" y="4419895"/>
            <a:ext cx="919602" cy="243488"/>
          </a:xfrm>
          <a:prstGeom prst="roundRect">
            <a:avLst>
              <a:gd name="adj" fmla="val 390798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883003" y="4496991"/>
            <a:ext cx="82923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740128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984" dirty="0"/>
          </a:p>
        </p:txBody>
      </p:sp>
      <p:sp>
        <p:nvSpPr>
          <p:cNvPr id="62" name="Text 60"/>
          <p:cNvSpPr/>
          <p:nvPr/>
        </p:nvSpPr>
        <p:spPr>
          <a:xfrm>
            <a:off x="7726524" y="44773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63" name="Text 61"/>
          <p:cNvSpPr/>
          <p:nvPr/>
        </p:nvSpPr>
        <p:spPr>
          <a:xfrm>
            <a:off x="8037634" y="4419895"/>
            <a:ext cx="650595" cy="243488"/>
          </a:xfrm>
          <a:prstGeom prst="roundRect">
            <a:avLst>
              <a:gd name="adj" fmla="val 3907985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77197" y="4496991"/>
            <a:ext cx="40721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153363" y="449163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66" name="Text 6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42900" y="123230"/>
            <a:ext cx="6517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PRESENTATION ROADMAP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874966" y="123230"/>
            <a:ext cx="19261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business problem to deployed forecasting system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42900" y="4959548"/>
            <a:ext cx="7874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173705" y="4959548"/>
            <a:ext cx="685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Agenda · 2 / 40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39" y="257175"/>
            <a:ext cx="259061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1250" b="1" kern="0" spc="-45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467916" y="4025503"/>
            <a:ext cx="0" cy="34290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72100" y="1155502"/>
            <a:ext cx="3429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372100" y="1905595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372100" y="1487686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15320" y="153090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5800725" y="1503759"/>
            <a:ext cx="152633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00725" y="1668066"/>
            <a:ext cx="128784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 levels per store-product-day</a:t>
            </a:r>
            <a:endParaRPr lang="en-US" sz="619" dirty="0"/>
          </a:p>
        </p:txBody>
      </p:sp>
      <p:sp>
        <p:nvSpPr>
          <p:cNvPr id="11" name="Shape 9"/>
          <p:cNvSpPr/>
          <p:nvPr/>
        </p:nvSpPr>
        <p:spPr>
          <a:xfrm>
            <a:off x="5372100" y="2427089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5372100" y="2009180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5320" y="20523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5800725" y="2025253"/>
            <a:ext cx="113146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Replenishment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0725" y="2189559"/>
            <a:ext cx="104264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Restock timing and quantity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5372100" y="2948583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5372100" y="2530673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15320" y="25738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800725" y="2546747"/>
            <a:ext cx="14910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0725" y="2711053"/>
            <a:ext cx="125806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Workforce scheduling by demand</a:t>
            </a:r>
            <a:endParaRPr lang="en-US" sz="619" dirty="0"/>
          </a:p>
        </p:txBody>
      </p:sp>
      <p:sp>
        <p:nvSpPr>
          <p:cNvPr id="21" name="Shape 19"/>
          <p:cNvSpPr/>
          <p:nvPr/>
        </p:nvSpPr>
        <p:spPr>
          <a:xfrm>
            <a:off x="5372100" y="3470077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372100" y="3052167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15320" y="309538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800725" y="3068241"/>
            <a:ext cx="136988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00725" y="3232547"/>
            <a:ext cx="115584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Campaign timing and targeting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5372100" y="3573661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15320" y="361688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5800725" y="3589734"/>
            <a:ext cx="140252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00725" y="3754041"/>
            <a:ext cx="12924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Procurement and logistics visibility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57200" y="457200"/>
            <a:ext cx="5308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ONE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757238"/>
            <a:ext cx="452628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Business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457200" y="1768748"/>
            <a:ext cx="428625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1961629"/>
            <a:ext cx="32861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accurate sales forecasting is the backbone of retail operations.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457200" y="4025503"/>
            <a:ext cx="4114800" cy="37033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Forecasting is not about predicting numbers — it is about making better operational decisions.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568428"/>
            <a:ext cx="5204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01 OF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Forecasting Matters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Forecasting is the operational backbone of retail — and weak forecasting cascades across every function.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20796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1343695"/>
            <a:ext cx="3337582" cy="958602"/>
          </a:xfrm>
          <a:prstGeom prst="roundRect">
            <a:avLst>
              <a:gd name="adj" fmla="val 9936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" y="1472282"/>
            <a:ext cx="3051832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kern="0" spc="-12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485775" y="2043782"/>
            <a:ext cx="316156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annual retail revenue lost to stockouts alone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6472" y="2391594"/>
            <a:ext cx="3330439" cy="1948235"/>
          </a:xfrm>
          <a:prstGeom prst="roundRect">
            <a:avLst>
              <a:gd name="adj" fmla="val 488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4344" y="2495178"/>
            <a:ext cx="3204423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CASCADING COST OF POOR FORECASTING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344" y="27344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664369" y="2727350"/>
            <a:ext cx="289467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Stockouts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immediate lost sales and customer churn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344" y="29845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664369" y="2977381"/>
            <a:ext cx="289467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Overstocking</a:t>
            </a:r>
            <a:r>
              <a:rPr lang="en-US" sz="731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working capital trapped, increased waste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464344" y="32345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664369" y="3227412"/>
            <a:ext cx="289467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Staffing mismatch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overtime cost or poor service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344" y="34845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664369" y="3477444"/>
            <a:ext cx="289467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Marketing mistimed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missed revenue windows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344" y="3734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64369" y="3727475"/>
            <a:ext cx="289467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blind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no procurement visibility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98354" y="1347267"/>
            <a:ext cx="4999174" cy="2992562"/>
          </a:xfrm>
          <a:prstGeom prst="roundRect">
            <a:avLst>
              <a:gd name="adj" fmla="val 318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30514" y="1465138"/>
            <a:ext cx="4844583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Operational Decisions Driven by Forecasting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3930514" y="1640160"/>
            <a:ext cx="47348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accurate forecasts create measurable value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4085" y="1872332"/>
            <a:ext cx="2317366" cy="727881"/>
          </a:xfrm>
          <a:prstGeom prst="roundRect">
            <a:avLst>
              <a:gd name="adj" fmla="val 130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37670" y="1961629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37670" y="198306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037670" y="2218804"/>
            <a:ext cx="211019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Planning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37670" y="2400970"/>
            <a:ext cx="211019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Optimal stock levels per store-product combination.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6344320" y="1872332"/>
            <a:ext cx="2317477" cy="727881"/>
          </a:xfrm>
          <a:prstGeom prst="roundRect">
            <a:avLst>
              <a:gd name="adj" fmla="val 130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47904" y="1961629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47904" y="198306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447904" y="2218804"/>
            <a:ext cx="211030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Replenishment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7904" y="2400970"/>
            <a:ext cx="222003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Timing and quantity for restocks.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4085" y="2693082"/>
            <a:ext cx="2317366" cy="727881"/>
          </a:xfrm>
          <a:prstGeom prst="roundRect">
            <a:avLst>
              <a:gd name="adj" fmla="val 130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037670" y="2782379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37670" y="28038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4037670" y="3039554"/>
            <a:ext cx="211019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37670" y="3221720"/>
            <a:ext cx="221992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Workforce scheduling by predicted demand.</a:t>
            </a:r>
            <a:endParaRPr lang="en-US" sz="619" dirty="0"/>
          </a:p>
        </p:txBody>
      </p:sp>
      <p:sp>
        <p:nvSpPr>
          <p:cNvPr id="41" name="Text 39"/>
          <p:cNvSpPr/>
          <p:nvPr/>
        </p:nvSpPr>
        <p:spPr>
          <a:xfrm>
            <a:off x="6344320" y="2693082"/>
            <a:ext cx="2317477" cy="727881"/>
          </a:xfrm>
          <a:prstGeom prst="roundRect">
            <a:avLst>
              <a:gd name="adj" fmla="val 130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47904" y="2782379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447904" y="28038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6447904" y="3039554"/>
            <a:ext cx="211030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Marketing Timing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47904" y="3221720"/>
            <a:ext cx="222003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Campaign scheduling for maximum impact.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34085" y="3513832"/>
            <a:ext cx="4727711" cy="427844"/>
          </a:xfrm>
          <a:prstGeom prst="roundRect">
            <a:avLst>
              <a:gd name="adj" fmla="val 2226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037670" y="3620542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037670" y="36419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4337707" y="3603129"/>
            <a:ext cx="211432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Visibility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37707" y="3742432"/>
            <a:ext cx="201364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demand signals for procurement and logistics.</a:t>
            </a:r>
            <a:endParaRPr lang="en-US" sz="619" dirty="0"/>
          </a:p>
        </p:txBody>
      </p:sp>
      <p:sp>
        <p:nvSpPr>
          <p:cNvPr id="51" name="Text 49"/>
          <p:cNvSpPr/>
          <p:nvPr/>
        </p:nvSpPr>
        <p:spPr>
          <a:xfrm>
            <a:off x="342900" y="4429125"/>
            <a:ext cx="8458200" cy="342900"/>
          </a:xfrm>
          <a:prstGeom prst="roundRect">
            <a:avLst>
              <a:gd name="adj" fmla="val 27778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342900" y="4432697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3" name="Shape 51"/>
          <p:cNvSpPr/>
          <p:nvPr/>
        </p:nvSpPr>
        <p:spPr>
          <a:xfrm>
            <a:off x="8797528" y="4429125"/>
            <a:ext cx="0" cy="3429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4" name="Shape 52"/>
          <p:cNvSpPr/>
          <p:nvPr/>
        </p:nvSpPr>
        <p:spPr>
          <a:xfrm>
            <a:off x="342900" y="4768453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5" name="Shape 53"/>
          <p:cNvSpPr/>
          <p:nvPr/>
        </p:nvSpPr>
        <p:spPr>
          <a:xfrm>
            <a:off x="353616" y="4429125"/>
            <a:ext cx="0" cy="34290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6" name="Text 54"/>
          <p:cNvSpPr/>
          <p:nvPr/>
        </p:nvSpPr>
        <p:spPr>
          <a:xfrm>
            <a:off x="478631" y="45219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57" name="Text 55"/>
          <p:cNvSpPr/>
          <p:nvPr/>
        </p:nvSpPr>
        <p:spPr>
          <a:xfrm>
            <a:off x="721519" y="4530923"/>
            <a:ext cx="795813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scope:</a:t>
            </a:r>
            <a:r>
              <a:rPr lang="en-US" sz="731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 ML-powered forecasting system using historical retail data from </a:t>
            </a:r>
            <a:r>
              <a:rPr lang="en-US" sz="731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 stores</a:t>
            </a:r>
            <a:r>
              <a:rPr lang="en-US" sz="731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731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 product families</a:t>
            </a:r>
            <a:r>
              <a:rPr lang="en-US" sz="731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Ecuador, enriched with external economic and calendar signals.</a:t>
            </a:r>
            <a:endParaRPr lang="en-US" sz="731" dirty="0"/>
          </a:p>
        </p:txBody>
      </p:sp>
      <p:sp>
        <p:nvSpPr>
          <p:cNvPr id="58" name="Text 56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42900" y="123230"/>
            <a:ext cx="75967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01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BUSINESS PROBLEM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953896" y="123230"/>
            <a:ext cx="8472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forecasting matters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42900" y="4959548"/>
            <a:ext cx="8208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536415" y="4959548"/>
            <a:ext cx="293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40</a:t>
            </a:r>
            <a:endParaRPr lang="en-US" sz="6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39" y="257175"/>
            <a:ext cx="259061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1250" b="1" kern="0" spc="-45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467916" y="4196953"/>
            <a:ext cx="0" cy="17145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72100" y="1155502"/>
            <a:ext cx="3429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FILES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372100" y="1905595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372100" y="1487686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15320" y="153090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5800725" y="1503759"/>
            <a:ext cx="30003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00725" y="1668066"/>
            <a:ext cx="30003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3,000,888 rows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72100" y="2427089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5372100" y="2009180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5320" y="20523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5800725" y="2025253"/>
            <a:ext cx="30003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stores.csv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0725" y="2189559"/>
            <a:ext cx="30003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 rows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72100" y="2948583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5372100" y="2530673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15320" y="257389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800725" y="2546747"/>
            <a:ext cx="30003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holidays_events.csv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0725" y="2711053"/>
            <a:ext cx="30003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350 rows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72100" y="3470077"/>
            <a:ext cx="3429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372100" y="3052167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15320" y="309538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800725" y="3068241"/>
            <a:ext cx="30003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oil.csv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00725" y="3232547"/>
            <a:ext cx="30003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1,218 rows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72100" y="3573661"/>
            <a:ext cx="314325" cy="314325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15320" y="361688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5800725" y="3589734"/>
            <a:ext cx="30003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transactions.csv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00725" y="3754041"/>
            <a:ext cx="3000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83,536 rows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"/>
            <a:ext cx="5308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TWO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757238"/>
            <a:ext cx="452628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457200" y="1768748"/>
            <a:ext cx="428625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1961629"/>
            <a:ext cx="32861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Understanding the dataset, its structure, and the signals it carries.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457200" y="4196953"/>
            <a:ext cx="4114800" cy="18516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quality of any ML model is fundamentally limited by the quality of its data.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568428"/>
            <a:ext cx="5204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OF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CORPORACIÓN FAVORITA · ECUADOR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Overview &amp; Source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real-world retail dataset from Corporación Favorita (Ecuador) — five source files, one unified time-series.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20796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47267"/>
            <a:ext cx="2736056" cy="3406899"/>
          </a:xfrm>
          <a:prstGeom prst="roundRect">
            <a:avLst>
              <a:gd name="adj" fmla="val 348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631" y="1465138"/>
            <a:ext cx="247173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FILES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8631" y="1597298"/>
            <a:ext cx="2581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Files &amp; Record Counts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631" y="2079501"/>
            <a:ext cx="247173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478631" y="1884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678656" y="1879476"/>
            <a:ext cx="211226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train.csv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00300" y="1890192"/>
            <a:ext cx="5500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3,000,888 rows</a:t>
            </a:r>
            <a:endParaRPr lang="en-US" sz="619" dirty="0"/>
          </a:p>
        </p:txBody>
      </p:sp>
      <p:sp>
        <p:nvSpPr>
          <p:cNvPr id="15" name="Shape 13"/>
          <p:cNvSpPr/>
          <p:nvPr/>
        </p:nvSpPr>
        <p:spPr>
          <a:xfrm>
            <a:off x="478631" y="2340248"/>
            <a:ext cx="247173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478631" y="21455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678656" y="2140223"/>
            <a:ext cx="225638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stores.csv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32193" y="2150938"/>
            <a:ext cx="3613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 rows</a:t>
            </a:r>
            <a:endParaRPr lang="en-US" sz="619" dirty="0"/>
          </a:p>
        </p:txBody>
      </p:sp>
      <p:sp>
        <p:nvSpPr>
          <p:cNvPr id="19" name="Shape 17"/>
          <p:cNvSpPr/>
          <p:nvPr/>
        </p:nvSpPr>
        <p:spPr>
          <a:xfrm>
            <a:off x="478631" y="2600995"/>
            <a:ext cx="247173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478631" y="24063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678656" y="2400970"/>
            <a:ext cx="19802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holidays_events.csv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83803" y="2411685"/>
            <a:ext cx="4188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350 rows</a:t>
            </a:r>
            <a:endParaRPr lang="en-US" sz="619" dirty="0"/>
          </a:p>
        </p:txBody>
      </p:sp>
      <p:sp>
        <p:nvSpPr>
          <p:cNvPr id="23" name="Shape 21"/>
          <p:cNvSpPr/>
          <p:nvPr/>
        </p:nvSpPr>
        <p:spPr>
          <a:xfrm>
            <a:off x="478631" y="2861742"/>
            <a:ext cx="247173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2"/>
          <p:cNvSpPr/>
          <p:nvPr/>
        </p:nvSpPr>
        <p:spPr>
          <a:xfrm>
            <a:off x="478631" y="26670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678656" y="2661717"/>
            <a:ext cx="22717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oil.csv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94904" y="2672432"/>
            <a:ext cx="5180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1,218 rows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478631" y="29278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678656" y="2922463"/>
            <a:ext cx="18564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transactions.csv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46514" y="2933179"/>
            <a:ext cx="5755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83,536 rows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78631" y="4120716"/>
            <a:ext cx="2471738" cy="515578"/>
          </a:xfrm>
          <a:prstGeom prst="roundRect">
            <a:avLst>
              <a:gd name="adj" fmla="val 18474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9347" y="4120716"/>
            <a:ext cx="0" cy="515578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585788" y="41992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757238" y="4192153"/>
            <a:ext cx="2107406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variable: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daily unit sales per (store, product_family, date) — 1,782 store-family pairs forecast simultaneously.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1343695"/>
            <a:ext cx="2743200" cy="3414043"/>
          </a:xfrm>
          <a:prstGeom prst="roundRect">
            <a:avLst>
              <a:gd name="adj" fmla="val 347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3275" y="1472282"/>
            <a:ext cx="245745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SCOPE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43275" y="1604442"/>
            <a:ext cx="2457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Coverage at a Glance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46847" y="1847329"/>
            <a:ext cx="1178719" cy="553641"/>
          </a:xfrm>
          <a:prstGeom prst="roundRect">
            <a:avLst>
              <a:gd name="adj" fmla="val 137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50431" y="1950913"/>
            <a:ext cx="97155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kern="0" spc="-3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3450431" y="2179513"/>
            <a:ext cx="9715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18434" y="1847329"/>
            <a:ext cx="1178719" cy="553641"/>
          </a:xfrm>
          <a:prstGeom prst="roundRect">
            <a:avLst>
              <a:gd name="adj" fmla="val 137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22019" y="1950913"/>
            <a:ext cx="97155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kern="0" spc="-3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4722019" y="2179513"/>
            <a:ext cx="9715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FAMILIES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3346847" y="2493838"/>
            <a:ext cx="1178719" cy="553641"/>
          </a:xfrm>
          <a:prstGeom prst="roundRect">
            <a:avLst>
              <a:gd name="adj" fmla="val 137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50431" y="2597423"/>
            <a:ext cx="97155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kern="0" spc="-3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3450431" y="2826023"/>
            <a:ext cx="9715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CITIES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18434" y="2493838"/>
            <a:ext cx="1178719" cy="553641"/>
          </a:xfrm>
          <a:prstGeom prst="roundRect">
            <a:avLst>
              <a:gd name="adj" fmla="val 137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68109" y="2590030"/>
            <a:ext cx="13469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kern="0" spc="-3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2013–2017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4722019" y="2826023"/>
            <a:ext cx="9715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TIME PERIOD · 5 YRS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3343275" y="3151063"/>
            <a:ext cx="24574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multi-year, multi-store, multi-category retail panel — dense enough to expose trend, seasonality, and store-family heterogeneity.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61472" y="1347267"/>
            <a:ext cx="2736056" cy="3406899"/>
          </a:xfrm>
          <a:prstGeom prst="roundRect">
            <a:avLst>
              <a:gd name="adj" fmla="val 348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93631" y="1465138"/>
            <a:ext cx="247173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ENRICHMENT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93631" y="1597298"/>
            <a:ext cx="2471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Signal Layers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93631" y="1872332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43637" y="191319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6479381" y="1872332"/>
            <a:ext cx="218598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Prices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79381" y="2018779"/>
            <a:ext cx="187836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Economic conditions proxy for oil-dependent Ecuador.</a:t>
            </a:r>
            <a:endParaRPr lang="en-US" sz="619" dirty="0"/>
          </a:p>
        </p:txBody>
      </p:sp>
      <p:sp>
        <p:nvSpPr>
          <p:cNvPr id="57" name="Text 55"/>
          <p:cNvSpPr/>
          <p:nvPr/>
        </p:nvSpPr>
        <p:spPr>
          <a:xfrm>
            <a:off x="6193631" y="2228738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41329" y="228599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6479381" y="2228738"/>
            <a:ext cx="176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79381" y="2375185"/>
            <a:ext cx="149314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National, regional, local levels + events.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6193631" y="2585145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46824" y="262821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6479381" y="2585145"/>
            <a:ext cx="166193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Promotions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479381" y="2731591"/>
            <a:ext cx="153147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On-promotion flag per store-product-day.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6193631" y="2941551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243637" y="29992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6479381" y="2941551"/>
            <a:ext cx="154249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79381" y="3087998"/>
            <a:ext cx="142141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traffic volume as demand proxy.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42900" y="123230"/>
            <a:ext cx="75091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FOUNDATION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866385" y="123230"/>
            <a:ext cx="9347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overview &amp; source</a:t>
            </a:r>
            <a:endParaRPr lang="en-US" sz="619" dirty="0"/>
          </a:p>
        </p:txBody>
      </p:sp>
      <p:sp>
        <p:nvSpPr>
          <p:cNvPr id="72" name="Text 7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342900" y="4959548"/>
            <a:ext cx="8208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536415" y="4959548"/>
            <a:ext cx="293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40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1435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75084"/>
            <a:ext cx="863600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Preparation Pipeline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57932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four-step cleaning pipeline that preserves time-series integrity while merging five source files.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79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1893094" cy="1092994"/>
          </a:xfrm>
          <a:prstGeom prst="roundRect">
            <a:avLst>
              <a:gd name="adj" fmla="val 871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056" y="1415132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056" y="1415132"/>
            <a:ext cx="1443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07381" y="1393701"/>
            <a:ext cx="228600" cy="228600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28455" y="14147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50056" y="1679451"/>
            <a:ext cx="17870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Parsing &amp; Standardization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0056" y="1852687"/>
            <a:ext cx="1685925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date formats (parse_dates) across all 5 source files for consistent merging on date and store keys.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00288" y="176517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2532459" y="1304404"/>
            <a:ext cx="1893094" cy="1092994"/>
          </a:xfrm>
          <a:prstGeom prst="roundRect">
            <a:avLst>
              <a:gd name="adj" fmla="val 871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36044" y="1415132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36044" y="1415132"/>
            <a:ext cx="1443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93369" y="1393701"/>
            <a:ext cx="228600" cy="228600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4443" y="14147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2636044" y="1679451"/>
            <a:ext cx="16859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Multi-File Merge Logic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36044" y="1852687"/>
            <a:ext cx="1685925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Left-join train with stores, holidays_events, oil, and transactions on date + store keys. Preserves every train row, enriches with external signals.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176517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4718447" y="1304404"/>
            <a:ext cx="1893094" cy="1092994"/>
          </a:xfrm>
          <a:prstGeom prst="roundRect">
            <a:avLst>
              <a:gd name="adj" fmla="val 871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2031" y="1415132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2031" y="1415132"/>
            <a:ext cx="1443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79356" y="1393701"/>
            <a:ext cx="228600" cy="228600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00430" y="14147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4822031" y="1679451"/>
            <a:ext cx="16859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Value Handling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22031" y="1852687"/>
            <a:ext cx="1685925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Oil: forward-fill then back-fill (time-ordered). Transactions: store-family median imputation. Categoricals: Unknown fill.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72263" y="176517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6904434" y="1304404"/>
            <a:ext cx="1893094" cy="1092994"/>
          </a:xfrm>
          <a:prstGeom prst="roundRect">
            <a:avLst>
              <a:gd name="adj" fmla="val 871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08019" y="1415132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08019" y="1415132"/>
            <a:ext cx="1443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65344" y="1393701"/>
            <a:ext cx="228600" cy="228600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486418" y="14147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7008019" y="1679451"/>
            <a:ext cx="16859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Assurance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08019" y="1852687"/>
            <a:ext cx="1685925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duplicates found. Transferred holidays excluded. Outliers winsorized at 99.5th percentile to limit extreme tails without erasing signal.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6472" y="2504554"/>
            <a:ext cx="5015694" cy="2263899"/>
          </a:xfrm>
          <a:prstGeom prst="roundRect">
            <a:avLst>
              <a:gd name="adj" fmla="val 4207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8631" y="2608138"/>
            <a:ext cx="475137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8631" y="2740298"/>
            <a:ext cx="4751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Cleaning Summary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631" y="30046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635794" y="2983185"/>
            <a:ext cx="45942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source files merged into unified time-series dataframe.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631" y="32002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635794" y="3178857"/>
            <a:ext cx="45942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parsing standardized across all sources.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631" y="339596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7" name="Text 45"/>
          <p:cNvSpPr/>
          <p:nvPr/>
        </p:nvSpPr>
        <p:spPr>
          <a:xfrm>
            <a:off x="635794" y="3374529"/>
            <a:ext cx="45942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values handled per-column with time-aware strategy.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8631" y="359163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635794" y="3570201"/>
            <a:ext cx="45942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duplicate (store, family, date) keys after dedup.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631" y="37873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1" name="Text 49"/>
          <p:cNvSpPr/>
          <p:nvPr/>
        </p:nvSpPr>
        <p:spPr>
          <a:xfrm>
            <a:off x="635794" y="3765872"/>
            <a:ext cx="459421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Outliers winsorized at 99.5th percentile.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51463" y="2500982"/>
            <a:ext cx="3349637" cy="2271043"/>
          </a:xfrm>
          <a:prstGeom prst="roundRect">
            <a:avLst>
              <a:gd name="adj" fmla="val 4194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462178" y="2500982"/>
            <a:ext cx="0" cy="227104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4" name="Text 52"/>
          <p:cNvSpPr/>
          <p:nvPr/>
        </p:nvSpPr>
        <p:spPr>
          <a:xfrm>
            <a:off x="5601481" y="2600995"/>
            <a:ext cx="3071031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DATASET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01481" y="2733154"/>
            <a:ext cx="30710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 for Modeling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590722" y="2940323"/>
            <a:ext cx="736841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kern="0" spc="-4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3M+</a:t>
            </a:r>
            <a:endParaRPr lang="en-US" sz="2475" dirty="0"/>
          </a:p>
        </p:txBody>
      </p:sp>
      <p:sp>
        <p:nvSpPr>
          <p:cNvPr id="57" name="Text 55"/>
          <p:cNvSpPr/>
          <p:nvPr/>
        </p:nvSpPr>
        <p:spPr>
          <a:xfrm>
            <a:off x="5601481" y="3268935"/>
            <a:ext cx="72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39173" y="3005198"/>
            <a:ext cx="76884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1238" dirty="0"/>
          </a:p>
        </p:txBody>
      </p:sp>
      <p:sp>
        <p:nvSpPr>
          <p:cNvPr id="59" name="Text 57"/>
          <p:cNvSpPr/>
          <p:nvPr/>
        </p:nvSpPr>
        <p:spPr>
          <a:xfrm>
            <a:off x="6139942" y="3240360"/>
            <a:ext cx="6522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601481" y="3458245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22925" y="3458245"/>
            <a:ext cx="2949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Final shape: 3,000,888 × 22 columns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01481" y="3604692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22925" y="3604692"/>
            <a:ext cx="2949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Saved as </a:t>
            </a: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clean_store_sales.csv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01481" y="3751138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722925" y="3751138"/>
            <a:ext cx="2949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Reproducible artifact · version-pinned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42900" y="123230"/>
            <a:ext cx="7565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FOUNDATION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22977" y="123230"/>
            <a:ext cx="9308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preparation pipeline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42900" y="4959548"/>
            <a:ext cx="8208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536415" y="4959548"/>
            <a:ext cx="293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/ 40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39" y="257175"/>
            <a:ext cx="259061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1250" b="1" kern="0" spc="-45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467916" y="4025503"/>
            <a:ext cx="0" cy="34290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75672" y="1076920"/>
            <a:ext cx="3421856" cy="2411016"/>
          </a:xfrm>
          <a:prstGeom prst="roundRect">
            <a:avLst>
              <a:gd name="adj" fmla="val 395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93544" y="1194792"/>
            <a:ext cx="31861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DAILY SALES · 2013–2017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93544" y="1369814"/>
            <a:ext cx="3186113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/tmp/h2p-fit-1783722389009-6vrjps.png"/>
          <p:cNvPicPr>
            <a:picLocks noChangeAspect="1"/>
          </p:cNvPicPr>
          <p:nvPr/>
        </p:nvPicPr>
        <p:blipFill>
          <a:blip r:embed="rId3"/>
          <a:srcRect l="24251" t="32022" r="24193" b="29401"/>
          <a:stretch>
            <a:fillRect/>
          </a:stretch>
        </p:blipFill>
        <p:spPr>
          <a:xfrm>
            <a:off x="5404459" y="1592712"/>
            <a:ext cx="3364281" cy="15544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75672" y="3623667"/>
            <a:ext cx="1078706" cy="442913"/>
          </a:xfrm>
          <a:prstGeom prst="roundRect">
            <a:avLst>
              <a:gd name="adj" fmla="val 1720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64969" y="3698677"/>
            <a:ext cx="900112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kern="0" spc="-27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+8%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64969" y="3884414"/>
            <a:ext cx="9001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YOY GROWTH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47247" y="3623667"/>
            <a:ext cx="1078706" cy="442913"/>
          </a:xfrm>
          <a:prstGeom prst="roundRect">
            <a:avLst>
              <a:gd name="adj" fmla="val 1720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36544" y="3698677"/>
            <a:ext cx="90011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kern="0" spc="-27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↑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36544" y="3884414"/>
            <a:ext cx="9001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PEAK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18822" y="3623667"/>
            <a:ext cx="1078706" cy="442913"/>
          </a:xfrm>
          <a:prstGeom prst="roundRect">
            <a:avLst>
              <a:gd name="adj" fmla="val 1720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808119" y="3698677"/>
            <a:ext cx="90011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kern="0" spc="-27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↑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808119" y="3884414"/>
            <a:ext cx="90011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WEEKEND LIFT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"/>
            <a:ext cx="5308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THREE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757238"/>
            <a:ext cx="452628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</a:t>
            </a:r>
            <a:endParaRPr lang="en-US" sz="3150" dirty="0"/>
          </a:p>
        </p:txBody>
      </p:sp>
      <p:sp>
        <p:nvSpPr>
          <p:cNvPr id="20" name="Text 17"/>
          <p:cNvSpPr/>
          <p:nvPr/>
        </p:nvSpPr>
        <p:spPr>
          <a:xfrm>
            <a:off x="457200" y="1768748"/>
            <a:ext cx="428625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7200" y="1961629"/>
            <a:ext cx="32861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data reveals about sales patterns, seasonality, and external drivers.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457200" y="4025503"/>
            <a:ext cx="4114800" cy="37033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 is not about making pretty charts — it is about discovering the patterns that will inform our feature engineering and model choices.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568428"/>
            <a:ext cx="5204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OF 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00063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&amp; PATTERNS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60797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Sales Trend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4364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clear upward trend with strong weekly seasonality — the data grows ~8% YoY and peaks on weekends.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50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261542"/>
            <a:ext cx="2796555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769" y="1322263"/>
            <a:ext cx="230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TOTAL SALES TREND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84307" y="1327621"/>
            <a:ext cx="452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image-9-1</a:t>
            </a:r>
            <a:endParaRPr lang="en-US" sz="600" dirty="0"/>
          </a:p>
        </p:txBody>
      </p:sp>
      <p:pic>
        <p:nvPicPr>
          <p:cNvPr id="11" name="Image 0" descr="/tmp/h2p-fit-1783722389565-3en7hz.png"/>
          <p:cNvPicPr>
            <a:picLocks noChangeAspect="1"/>
          </p:cNvPicPr>
          <p:nvPr/>
        </p:nvPicPr>
        <p:blipFill>
          <a:blip r:embed="rId3"/>
          <a:srcRect l="24384" t="28469" r="24711" b="26779"/>
          <a:stretch>
            <a:fillRect/>
          </a:stretch>
        </p:blipFill>
        <p:spPr>
          <a:xfrm>
            <a:off x="406489" y="1547507"/>
            <a:ext cx="2661528" cy="117337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1481" y="2813745"/>
            <a:ext cx="2646536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Upward trend with consistent December peaks and seasonal oscillations.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235896" y="1261542"/>
            <a:ext cx="2796667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25192" y="1322263"/>
            <a:ext cx="2303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SALES BY DAY OF WEEK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73843" y="1327621"/>
            <a:ext cx="452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image-9-2</a:t>
            </a:r>
            <a:endParaRPr lang="en-US" sz="600" dirty="0"/>
          </a:p>
        </p:txBody>
      </p:sp>
      <p:pic>
        <p:nvPicPr>
          <p:cNvPr id="16" name="Image 1" descr="/tmp/h2p-fit-1783722389559-6vpqt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905" y="1457995"/>
            <a:ext cx="2646648" cy="13271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905" y="2813745"/>
            <a:ext cx="2646648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Saturday peaks at ~583 avg units; weekdays average ~497.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46472" y="3068575"/>
            <a:ext cx="2796555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5769" y="3129297"/>
            <a:ext cx="230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SALES BY MONTH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684307" y="3134655"/>
            <a:ext cx="452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image-9-3</a:t>
            </a:r>
            <a:endParaRPr lang="en-US" sz="600" dirty="0"/>
          </a:p>
        </p:txBody>
      </p:sp>
      <p:pic>
        <p:nvPicPr>
          <p:cNvPr id="21" name="Image 2" descr="/tmp/h2p-fit-1783722389557-1ar8h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" y="3265029"/>
            <a:ext cx="2646536" cy="12259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21481" y="4519538"/>
            <a:ext cx="2646536" cy="202481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December spikes 25–35% above Q1 baseline — Christmas + year-end demand.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235896" y="3068575"/>
            <a:ext cx="2796667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325192" y="3129297"/>
            <a:ext cx="2303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10 PRODUCT FAMILIES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573843" y="3134655"/>
            <a:ext cx="452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image-9-4</a:t>
            </a:r>
            <a:endParaRPr lang="en-US" sz="600" dirty="0"/>
          </a:p>
        </p:txBody>
      </p:sp>
      <p:pic>
        <p:nvPicPr>
          <p:cNvPr id="26" name="Image 3" descr="/tmp/h2p-fit-1783722389550-mb4e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905" y="3265029"/>
            <a:ext cx="2646648" cy="13271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310905" y="4620778"/>
            <a:ext cx="2646648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GROCERY I dominates at 851 avg units, 2× larger than BEVERAGES.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6125431" y="1261542"/>
            <a:ext cx="2672097" cy="2829148"/>
          </a:xfrm>
          <a:prstGeom prst="roundRect">
            <a:avLst>
              <a:gd name="adj" fmla="val 356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243303" y="1365126"/>
            <a:ext cx="243635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243303" y="1896554"/>
            <a:ext cx="243635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5"/>
          <p:cNvSpPr/>
          <p:nvPr/>
        </p:nvSpPr>
        <p:spPr>
          <a:xfrm>
            <a:off x="6243303" y="1583010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267591" y="160729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33" name="Text 27"/>
          <p:cNvSpPr/>
          <p:nvPr/>
        </p:nvSpPr>
        <p:spPr>
          <a:xfrm>
            <a:off x="6529053" y="1583010"/>
            <a:ext cx="215060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Upward Trend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529053" y="1725885"/>
            <a:ext cx="194053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~8% YoY growth 2013–2017, with seasonal oscillations.</a:t>
            </a:r>
            <a:endParaRPr lang="en-US" sz="619" dirty="0"/>
          </a:p>
        </p:txBody>
      </p:sp>
      <p:sp>
        <p:nvSpPr>
          <p:cNvPr id="35" name="Shape 29"/>
          <p:cNvSpPr/>
          <p:nvPr/>
        </p:nvSpPr>
        <p:spPr>
          <a:xfrm>
            <a:off x="6243303" y="2380766"/>
            <a:ext cx="243635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0"/>
          <p:cNvSpPr/>
          <p:nvPr/>
        </p:nvSpPr>
        <p:spPr>
          <a:xfrm>
            <a:off x="6243303" y="1957276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267591" y="198156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8" name="Text 32"/>
          <p:cNvSpPr/>
          <p:nvPr/>
        </p:nvSpPr>
        <p:spPr>
          <a:xfrm>
            <a:off x="6529053" y="1957276"/>
            <a:ext cx="215060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Weekend Uplift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6529053" y="2100151"/>
            <a:ext cx="2150604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Sat–Sun average ~15% above weekday mean, consistent across years.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243303" y="2441488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267591" y="246577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2" name="Text 36"/>
          <p:cNvSpPr/>
          <p:nvPr/>
        </p:nvSpPr>
        <p:spPr>
          <a:xfrm>
            <a:off x="6529053" y="2441488"/>
            <a:ext cx="215060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Store/Family Skew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529053" y="2584363"/>
            <a:ext cx="2150604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5 families = ~60% of total volume; GROCERY I alone = ~20%.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121859" y="4179987"/>
            <a:ext cx="2679241" cy="606326"/>
          </a:xfrm>
          <a:prstGeom prst="roundRect">
            <a:avLst>
              <a:gd name="adj" fmla="val 15709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39"/>
          <p:cNvSpPr/>
          <p:nvPr/>
        </p:nvSpPr>
        <p:spPr>
          <a:xfrm>
            <a:off x="6132575" y="4179987"/>
            <a:ext cx="0" cy="606326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6" name="Text 40"/>
          <p:cNvSpPr/>
          <p:nvPr/>
        </p:nvSpPr>
        <p:spPr>
          <a:xfrm>
            <a:off x="6243303" y="4265712"/>
            <a:ext cx="245778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243303" y="4426446"/>
            <a:ext cx="245778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 · month</a:t>
            </a:r>
            <a:endParaRPr lang="en-US" sz="80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weekofyear · year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342900" y="123230"/>
            <a:ext cx="7788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145884" y="123230"/>
            <a:ext cx="6552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sales trend</a:t>
            </a:r>
            <a:endParaRPr lang="en-US" sz="619" dirty="0"/>
          </a:p>
        </p:txBody>
      </p:sp>
      <p:sp>
        <p:nvSpPr>
          <p:cNvPr id="51" name="Text 4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342900" y="4959548"/>
            <a:ext cx="8208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8536415" y="4959548"/>
            <a:ext cx="293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/ 40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00063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SEASONAL DECOMPOSITION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60797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Seasonality Deep Dive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4364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Seasonality is the strongest signal in this dataset — Q4 alone runs 25–35% above Q1 baseline.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50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261542"/>
            <a:ext cx="5183795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1481" y="1322263"/>
            <a:ext cx="5033776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PATTERN (SEASONAL VS TREND)</a:t>
            </a:r>
            <a:endParaRPr lang="en-US" sz="800" dirty="0"/>
          </a:p>
        </p:txBody>
      </p:sp>
      <p:pic>
        <p:nvPicPr>
          <p:cNvPr id="10" name="Image 0" descr="/tmp/h2p-fit-1783722389687-sb2e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1" y="1457995"/>
            <a:ext cx="5033776" cy="13271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1481" y="2813745"/>
            <a:ext cx="5033776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Q4 seasonal index 135 vs Q1 baseline 100 — trend remains steady at ~8% YoY.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6472" y="3068575"/>
            <a:ext cx="5183795" cy="1714165"/>
          </a:xfrm>
          <a:prstGeom prst="roundRect">
            <a:avLst>
              <a:gd name="adj" fmla="val 444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21481" y="3129297"/>
            <a:ext cx="5033776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DECOMPOSITION (ADDITIVE, PERIOD=365)</a:t>
            </a:r>
            <a:endParaRPr lang="en-US" sz="800" dirty="0"/>
          </a:p>
        </p:txBody>
      </p:sp>
      <p:pic>
        <p:nvPicPr>
          <p:cNvPr id="14" name="Image 1" descr="/tmp/h2p-fit-1783722389654-1rh0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" y="3265029"/>
            <a:ext cx="5033776" cy="13271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481" y="4620778"/>
            <a:ext cx="5033776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Trend, seasonal, and residual components extracted via additive decomposition.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623136" y="1261542"/>
            <a:ext cx="3174392" cy="2733601"/>
          </a:xfrm>
          <a:prstGeom prst="roundRect">
            <a:avLst>
              <a:gd name="adj" fmla="val 348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726720" y="1350838"/>
            <a:ext cx="2967224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SEASONALITY METRICS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726720" y="2032285"/>
            <a:ext cx="296722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5"/>
          <p:cNvSpPr/>
          <p:nvPr/>
        </p:nvSpPr>
        <p:spPr>
          <a:xfrm>
            <a:off x="5726720" y="1554435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778556" y="15973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012470" y="1554435"/>
            <a:ext cx="241801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25–35%</a:t>
            </a:r>
            <a:endParaRPr lang="en-US" sz="1238" dirty="0"/>
          </a:p>
        </p:txBody>
      </p:sp>
      <p:sp>
        <p:nvSpPr>
          <p:cNvPr id="22" name="Text 18"/>
          <p:cNvSpPr/>
          <p:nvPr/>
        </p:nvSpPr>
        <p:spPr>
          <a:xfrm>
            <a:off x="6012470" y="1740173"/>
            <a:ext cx="218424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SALES ABOVE Q1 BASELINE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012470" y="1861617"/>
            <a:ext cx="18890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Christmas + year-end demand drives December peak.</a:t>
            </a:r>
            <a:endParaRPr lang="en-US" sz="619" dirty="0"/>
          </a:p>
        </p:txBody>
      </p:sp>
      <p:sp>
        <p:nvSpPr>
          <p:cNvPr id="24" name="Shape 20"/>
          <p:cNvSpPr/>
          <p:nvPr/>
        </p:nvSpPr>
        <p:spPr>
          <a:xfrm>
            <a:off x="5726720" y="2570857"/>
            <a:ext cx="296722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1"/>
          <p:cNvSpPr/>
          <p:nvPr/>
        </p:nvSpPr>
        <p:spPr>
          <a:xfrm>
            <a:off x="5726720" y="2093007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772440" y="214237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6012470" y="2093007"/>
            <a:ext cx="240221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~8%</a:t>
            </a:r>
            <a:endParaRPr lang="en-US" sz="1238" dirty="0"/>
          </a:p>
        </p:txBody>
      </p:sp>
      <p:sp>
        <p:nvSpPr>
          <p:cNvPr id="28" name="Text 24"/>
          <p:cNvSpPr/>
          <p:nvPr/>
        </p:nvSpPr>
        <p:spPr>
          <a:xfrm>
            <a:off x="6012470" y="2278745"/>
            <a:ext cx="1642022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YEAR-OVER-YEAR GROWTH RATE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6012470" y="2400188"/>
            <a:ext cx="1642022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Steady underlying trend across 2013–2017.</a:t>
            </a:r>
            <a:endParaRPr lang="en-US" sz="619" dirty="0"/>
          </a:p>
        </p:txBody>
      </p:sp>
      <p:sp>
        <p:nvSpPr>
          <p:cNvPr id="30" name="Shape 26"/>
          <p:cNvSpPr/>
          <p:nvPr/>
        </p:nvSpPr>
        <p:spPr>
          <a:xfrm>
            <a:off x="5726720" y="3109429"/>
            <a:ext cx="296722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7"/>
          <p:cNvSpPr/>
          <p:nvPr/>
        </p:nvSpPr>
        <p:spPr>
          <a:xfrm>
            <a:off x="5726720" y="2631579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774980" y="26784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6012470" y="2631579"/>
            <a:ext cx="209683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20–40%</a:t>
            </a:r>
            <a:endParaRPr lang="en-US" sz="1238" dirty="0"/>
          </a:p>
        </p:txBody>
      </p:sp>
      <p:sp>
        <p:nvSpPr>
          <p:cNvPr id="34" name="Text 30"/>
          <p:cNvSpPr/>
          <p:nvPr/>
        </p:nvSpPr>
        <p:spPr>
          <a:xfrm>
            <a:off x="6012470" y="2817316"/>
            <a:ext cx="17692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 BOOST (GROCERY/BEVERAGE)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6012470" y="2938760"/>
            <a:ext cx="176920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Strongest on grocery and beverage categories.</a:t>
            </a:r>
            <a:endParaRPr lang="en-US" sz="619" dirty="0"/>
          </a:p>
        </p:txBody>
      </p:sp>
      <p:sp>
        <p:nvSpPr>
          <p:cNvPr id="36" name="Text 32"/>
          <p:cNvSpPr/>
          <p:nvPr/>
        </p:nvSpPr>
        <p:spPr>
          <a:xfrm>
            <a:off x="5726720" y="3170151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777520" y="321698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6012470" y="3170151"/>
            <a:ext cx="1801914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13" kern="0" spc="-2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Payday Effect</a:t>
            </a:r>
            <a:endParaRPr lang="en-US" sz="1013" dirty="0"/>
          </a:p>
        </p:txBody>
      </p:sp>
      <p:sp>
        <p:nvSpPr>
          <p:cNvPr id="39" name="Text 35"/>
          <p:cNvSpPr/>
          <p:nvPr/>
        </p:nvSpPr>
        <p:spPr>
          <a:xfrm>
            <a:off x="6012470" y="3327313"/>
            <a:ext cx="177769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 SPIKE AROUND 15TH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012470" y="3448757"/>
            <a:ext cx="166046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Recurring monthly bump around mid-month.</a:t>
            </a:r>
            <a:endParaRPr lang="en-US" sz="619" dirty="0"/>
          </a:p>
        </p:txBody>
      </p:sp>
      <p:sp>
        <p:nvSpPr>
          <p:cNvPr id="41" name="Text 37"/>
          <p:cNvSpPr/>
          <p:nvPr/>
        </p:nvSpPr>
        <p:spPr>
          <a:xfrm>
            <a:off x="5619564" y="4084439"/>
            <a:ext cx="3181536" cy="701873"/>
          </a:xfrm>
          <a:prstGeom prst="roundRect">
            <a:avLst>
              <a:gd name="adj" fmla="val 13571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5630280" y="4084439"/>
            <a:ext cx="0" cy="70187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3" name="Text 39"/>
          <p:cNvSpPr/>
          <p:nvPr/>
        </p:nvSpPr>
        <p:spPr>
          <a:xfrm>
            <a:off x="5741008" y="4170164"/>
            <a:ext cx="296008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741008" y="4330898"/>
            <a:ext cx="296008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consistent seasonal patterns are what make ML effective here — the model can learn these repeating structures. The December peak and January dip directly drive inventory planning. The payday effect informs staffing decisions.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342900" y="123230"/>
            <a:ext cx="767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032142" y="123230"/>
            <a:ext cx="7689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Seasonality deep dive</a:t>
            </a:r>
            <a:endParaRPr lang="en-US" sz="619" dirty="0"/>
          </a:p>
        </p:txBody>
      </p:sp>
      <p:sp>
        <p:nvSpPr>
          <p:cNvPr id="48" name="Text 4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40</a:t>
            </a:r>
            <a:endParaRPr lang="en-US" sz="6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00063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· PROMOTIONS · HOLIDAYS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60797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Factors Impact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4364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external signals move sales — oil prices (macro), promotions (micro), and holidays (calendar).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50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261542"/>
            <a:ext cx="2755032" cy="2678237"/>
          </a:xfrm>
          <a:prstGeom prst="roundRect">
            <a:avLst>
              <a:gd name="adj" fmla="val 355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056" y="1350838"/>
            <a:ext cx="200025" cy="200025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380" y="1373163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055" dirty="0"/>
          </a:p>
        </p:txBody>
      </p:sp>
      <p:sp>
        <p:nvSpPr>
          <p:cNvPr id="11" name="Text 9"/>
          <p:cNvSpPr/>
          <p:nvPr/>
        </p:nvSpPr>
        <p:spPr>
          <a:xfrm>
            <a:off x="707231" y="1375842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Prices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0056" y="1622301"/>
            <a:ext cx="84707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kern="0" spc="-34" dirty="0">
                <a:solidFill>
                  <a:srgbClr val="DC2F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−0.32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1036625" y="1593726"/>
            <a:ext cx="19612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</a:t>
            </a:r>
            <a:endParaRPr lang="en-US" sz="800" dirty="0"/>
          </a:p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SALES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3628" y="1883048"/>
            <a:ext cx="2540719" cy="1594842"/>
          </a:xfrm>
          <a:prstGeom prst="roundRect">
            <a:avLst>
              <a:gd name="adj" fmla="val 3583"/>
            </a:avLst>
          </a:prstGeom>
          <a:noFill/>
          <a:ln w="7144">
            <a:solidFill>
              <a:srgbClr val="EEF2F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/tmp/h2p-fit-1783722389679-yb4al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915195"/>
            <a:ext cx="2476426" cy="15305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0056" y="3524324"/>
            <a:ext cx="2547863" cy="326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Ecuador is an oil-dependent economy. Oil price drops signal broader economic stress — lower consumer confidence → lower retail spending. Oil fell from $72.6 (train mean) to $49.1 (test mean).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94372" y="1261542"/>
            <a:ext cx="2755143" cy="2678237"/>
          </a:xfrm>
          <a:prstGeom prst="roundRect">
            <a:avLst>
              <a:gd name="adj" fmla="val 355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97957" y="1350838"/>
            <a:ext cx="200025" cy="200025"/>
          </a:xfrm>
          <a:prstGeom prst="ellipse">
            <a:avLst/>
          </a:prstGeom>
          <a:solidFill>
            <a:srgbClr val="FBF3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320281" y="1373163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8C691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055" dirty="0"/>
          </a:p>
        </p:txBody>
      </p:sp>
      <p:sp>
        <p:nvSpPr>
          <p:cNvPr id="20" name="Text 17"/>
          <p:cNvSpPr/>
          <p:nvPr/>
        </p:nvSpPr>
        <p:spPr>
          <a:xfrm>
            <a:off x="3555132" y="1375842"/>
            <a:ext cx="2290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Promotions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97957" y="1622301"/>
            <a:ext cx="6584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kern="0" spc="-34" dirty="0">
                <a:solidFill>
                  <a:srgbClr val="2E8B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+25%</a:t>
            </a:r>
            <a:endParaRPr lang="en-US" sz="1688" dirty="0"/>
          </a:p>
        </p:txBody>
      </p:sp>
      <p:sp>
        <p:nvSpPr>
          <p:cNvPr id="22" name="Text 19"/>
          <p:cNvSpPr/>
          <p:nvPr/>
        </p:nvSpPr>
        <p:spPr>
          <a:xfrm>
            <a:off x="3935468" y="1593726"/>
            <a:ext cx="20792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SALES UPLIFT</a:t>
            </a:r>
            <a:endParaRPr lang="en-US" sz="800" dirty="0"/>
          </a:p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ACTIVE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301529" y="1883048"/>
            <a:ext cx="2540831" cy="1594842"/>
          </a:xfrm>
          <a:prstGeom prst="roundRect">
            <a:avLst>
              <a:gd name="adj" fmla="val 3583"/>
            </a:avLst>
          </a:prstGeom>
          <a:noFill/>
          <a:ln w="7144">
            <a:solidFill>
              <a:srgbClr val="EEF2F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1" descr="/tmp/h2p-fit-1783722389694-r3qg1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676" y="1915195"/>
            <a:ext cx="2476537" cy="15305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97957" y="3524324"/>
            <a:ext cx="2547975" cy="326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Strongest effect on GROCERY I and CLEANING. The onpromotion flag is the single most predictive feature in the final XGBoost model — validating the EDA insight at model level.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42385" y="1261542"/>
            <a:ext cx="2755032" cy="2678237"/>
          </a:xfrm>
          <a:prstGeom prst="roundRect">
            <a:avLst>
              <a:gd name="adj" fmla="val 355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145969" y="1350838"/>
            <a:ext cx="107156" cy="160734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145969" y="137941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29" name="Text 25"/>
          <p:cNvSpPr/>
          <p:nvPr/>
        </p:nvSpPr>
        <p:spPr>
          <a:xfrm>
            <a:off x="6310275" y="1356196"/>
            <a:ext cx="23835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45969" y="1583010"/>
            <a:ext cx="117686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kern="0" spc="-3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levels</a:t>
            </a:r>
            <a:endParaRPr lang="en-US" sz="1688" dirty="0"/>
          </a:p>
        </p:txBody>
      </p:sp>
      <p:sp>
        <p:nvSpPr>
          <p:cNvPr id="31" name="Text 27"/>
          <p:cNvSpPr/>
          <p:nvPr/>
        </p:nvSpPr>
        <p:spPr>
          <a:xfrm>
            <a:off x="7026101" y="1554435"/>
            <a:ext cx="16677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NATIONAL,</a:t>
            </a:r>
            <a:endParaRPr lang="en-US" sz="800" dirty="0"/>
          </a:p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REGIONAL, LOCAL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149541" y="1843757"/>
            <a:ext cx="2540719" cy="1742852"/>
          </a:xfrm>
          <a:prstGeom prst="roundRect">
            <a:avLst>
              <a:gd name="adj" fmla="val 3279"/>
            </a:avLst>
          </a:prstGeom>
          <a:noFill/>
          <a:ln w="7144">
            <a:solidFill>
              <a:srgbClr val="EEF2F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2" descr="/tmp/h2p-fit-1783722389724-klo0f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688" y="1875904"/>
            <a:ext cx="2476426" cy="167855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45969" y="3633043"/>
            <a:ext cx="2547863" cy="21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National holidays have the largest impact. Events (football tournaments) create category-specific spikes in BEVERAGES and PREPARED FOODS.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42900" y="4029075"/>
            <a:ext cx="8458200" cy="757238"/>
          </a:xfrm>
          <a:prstGeom prst="roundRect">
            <a:avLst>
              <a:gd name="adj" fmla="val 12579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342900" y="4032647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2"/>
          <p:cNvSpPr/>
          <p:nvPr/>
        </p:nvSpPr>
        <p:spPr>
          <a:xfrm>
            <a:off x="8797528" y="4029075"/>
            <a:ext cx="0" cy="7572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Shape 33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Shape 34"/>
          <p:cNvSpPr/>
          <p:nvPr/>
        </p:nvSpPr>
        <p:spPr>
          <a:xfrm>
            <a:off x="353616" y="4029075"/>
            <a:ext cx="0" cy="757238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35"/>
          <p:cNvSpPr/>
          <p:nvPr/>
        </p:nvSpPr>
        <p:spPr>
          <a:xfrm>
            <a:off x="478631" y="431482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41" name="Text 36"/>
          <p:cNvSpPr/>
          <p:nvPr/>
        </p:nvSpPr>
        <p:spPr>
          <a:xfrm>
            <a:off x="778669" y="4208227"/>
            <a:ext cx="6500813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Combined effect discovery — multiplicative uplift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778669" y="4368961"/>
            <a:ext cx="6500813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promotions coincide with holidays, the sales uplift is multiplicative (40–60%) rather than additive (25% + 15% = 40%). The most actionable insight for marketing teams — timing promotions around holidays compounds the benefit.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7397353" y="4125516"/>
            <a:ext cx="1278731" cy="564356"/>
          </a:xfrm>
          <a:prstGeom prst="roundRect">
            <a:avLst>
              <a:gd name="adj" fmla="val 10127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/tmp/h2p-fit-1783722389776-qjt84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4157663"/>
            <a:ext cx="1214438" cy="50006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42900" y="123230"/>
            <a:ext cx="7644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001893" y="123230"/>
            <a:ext cx="7992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factors impact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40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00063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60797"/>
            <a:ext cx="863600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&amp; Geography Patterns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4364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Volume is highly skewed — top 5 cities drive 70%+ of total sales, and store type A outpaces type E by ~70%.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50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261542"/>
            <a:ext cx="2712951" cy="1663489"/>
          </a:xfrm>
          <a:prstGeom prst="roundRect">
            <a:avLst>
              <a:gd name="adj" fmla="val 458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1481" y="1322263"/>
            <a:ext cx="2562932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10 STORES BY AVERAGE SALES</a:t>
            </a:r>
            <a:endParaRPr lang="en-US" sz="800" dirty="0"/>
          </a:p>
        </p:txBody>
      </p:sp>
      <p:pic>
        <p:nvPicPr>
          <p:cNvPr id="10" name="Image 0" descr="/tmp/h2p-fit-1783722390464-xlzeu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" y="1457995"/>
            <a:ext cx="2562932" cy="12764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1481" y="2763069"/>
            <a:ext cx="2562932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#44 leads at 1,248 avg units — 2.3× the chain-wide mean.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152291" y="1261542"/>
            <a:ext cx="2712951" cy="1663489"/>
          </a:xfrm>
          <a:prstGeom prst="roundRect">
            <a:avLst>
              <a:gd name="adj" fmla="val 458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27301" y="1322263"/>
            <a:ext cx="2562932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DISTRIBUTION BY CITY (DONUT)</a:t>
            </a:r>
            <a:endParaRPr lang="en-US" sz="800" dirty="0"/>
          </a:p>
        </p:txBody>
      </p:sp>
      <p:pic>
        <p:nvPicPr>
          <p:cNvPr id="14" name="Image 1" descr="/tmp/h2p-fit-1783722390452-6ujjy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301" y="1457995"/>
            <a:ext cx="2562932" cy="127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27301" y="2763069"/>
            <a:ext cx="2562932" cy="101240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Quito + Guayaquil = 57% of total volume; remaining 20 cities share 43%.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346472" y="3017900"/>
            <a:ext cx="2712951" cy="1764841"/>
          </a:xfrm>
          <a:prstGeom prst="roundRect">
            <a:avLst>
              <a:gd name="adj" fmla="val 4318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21481" y="3078621"/>
            <a:ext cx="2562932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SALES BY STORE TYPE</a:t>
            </a:r>
            <a:endParaRPr lang="en-US" sz="800" dirty="0"/>
          </a:p>
        </p:txBody>
      </p:sp>
      <p:pic>
        <p:nvPicPr>
          <p:cNvPr id="18" name="Image 2" descr="/tmp/h2p-fit-1783722390273-zaerc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" y="3214353"/>
            <a:ext cx="2562932" cy="12766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1481" y="4519538"/>
            <a:ext cx="2562932" cy="202481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A stores average 612 units vs Type E at 358 — segment-aware forecasting is essential.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152291" y="3017900"/>
            <a:ext cx="2712951" cy="1764841"/>
          </a:xfrm>
          <a:prstGeom prst="roundRect">
            <a:avLst>
              <a:gd name="adj" fmla="val 4318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227301" y="3078621"/>
            <a:ext cx="2562932" cy="208483"/>
          </a:xfrm>
          <a:prstGeom prst="rect">
            <a:avLst/>
          </a:prstGeom>
          <a:noFill/>
          <a:ln/>
        </p:spPr>
        <p:txBody>
          <a:bodyPr wrap="square" lIns="14288" tIns="0" rIns="14288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10 PRODUCT FAMILIES BY AVG SALES</a:t>
            </a:r>
            <a:endParaRPr lang="en-US" sz="800" dirty="0"/>
          </a:p>
        </p:txBody>
      </p:sp>
      <p:pic>
        <p:nvPicPr>
          <p:cNvPr id="22" name="Image 3" descr="/tmp/h2p-fit-1783722390309-6ikr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301" y="3214353"/>
            <a:ext cx="2562932" cy="12766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27301" y="4519538"/>
            <a:ext cx="2562932" cy="202481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GROCERY I, BEVERAGES, PRODUCE, DAIRY, CLEANING = top 5 families by volume.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958111" y="1261542"/>
            <a:ext cx="2839417" cy="2719313"/>
          </a:xfrm>
          <a:prstGeom prst="roundRect">
            <a:avLst>
              <a:gd name="adj" fmla="val 350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075983" y="1365126"/>
            <a:ext cx="260367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INSIGHTS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6075983" y="1896554"/>
            <a:ext cx="260367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1"/>
          <p:cNvSpPr/>
          <p:nvPr/>
        </p:nvSpPr>
        <p:spPr>
          <a:xfrm>
            <a:off x="6075983" y="1583010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075983" y="16044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29" name="Text 23"/>
          <p:cNvSpPr/>
          <p:nvPr/>
        </p:nvSpPr>
        <p:spPr>
          <a:xfrm>
            <a:off x="6361733" y="1583010"/>
            <a:ext cx="154616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Store-level skew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361733" y="1725885"/>
            <a:ext cx="142479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10 stores = ~30% of total volume.</a:t>
            </a:r>
            <a:endParaRPr lang="en-US" sz="619" dirty="0"/>
          </a:p>
        </p:txBody>
      </p:sp>
      <p:sp>
        <p:nvSpPr>
          <p:cNvPr id="31" name="Shape 25"/>
          <p:cNvSpPr/>
          <p:nvPr/>
        </p:nvSpPr>
        <p:spPr>
          <a:xfrm>
            <a:off x="6075983" y="2270820"/>
            <a:ext cx="260367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6"/>
          <p:cNvSpPr/>
          <p:nvPr/>
        </p:nvSpPr>
        <p:spPr>
          <a:xfrm>
            <a:off x="6075983" y="1957276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075983" y="197870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34" name="Text 28"/>
          <p:cNvSpPr/>
          <p:nvPr/>
        </p:nvSpPr>
        <p:spPr>
          <a:xfrm>
            <a:off x="6361733" y="1957276"/>
            <a:ext cx="1152345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Geographic concentration</a:t>
            </a:r>
            <a:endParaRPr lang="en-US" sz="675" dirty="0"/>
          </a:p>
        </p:txBody>
      </p:sp>
      <p:sp>
        <p:nvSpPr>
          <p:cNvPr id="35" name="Text 29"/>
          <p:cNvSpPr/>
          <p:nvPr/>
        </p:nvSpPr>
        <p:spPr>
          <a:xfrm>
            <a:off x="6361733" y="2100151"/>
            <a:ext cx="1173685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cities = 57% of sales.</a:t>
            </a:r>
            <a:endParaRPr lang="en-US" sz="619" dirty="0"/>
          </a:p>
        </p:txBody>
      </p:sp>
      <p:sp>
        <p:nvSpPr>
          <p:cNvPr id="36" name="Text 30"/>
          <p:cNvSpPr/>
          <p:nvPr/>
        </p:nvSpPr>
        <p:spPr>
          <a:xfrm>
            <a:off x="6075983" y="2331541"/>
            <a:ext cx="214313" cy="214313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075983" y="23529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38" name="Text 32"/>
          <p:cNvSpPr/>
          <p:nvPr/>
        </p:nvSpPr>
        <p:spPr>
          <a:xfrm>
            <a:off x="6361733" y="2331541"/>
            <a:ext cx="110996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concentration</a:t>
            </a:r>
            <a:endParaRPr lang="en-US" sz="675" dirty="0"/>
          </a:p>
        </p:txBody>
      </p:sp>
      <p:sp>
        <p:nvSpPr>
          <p:cNvPr id="39" name="Text 33"/>
          <p:cNvSpPr/>
          <p:nvPr/>
        </p:nvSpPr>
        <p:spPr>
          <a:xfrm>
            <a:off x="6361733" y="2474416"/>
            <a:ext cx="108977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families = ~60% of volume.</a:t>
            </a:r>
            <a:endParaRPr lang="en-US" sz="619" dirty="0"/>
          </a:p>
        </p:txBody>
      </p:sp>
      <p:sp>
        <p:nvSpPr>
          <p:cNvPr id="40" name="Text 34"/>
          <p:cNvSpPr/>
          <p:nvPr/>
        </p:nvSpPr>
        <p:spPr>
          <a:xfrm>
            <a:off x="5954539" y="4070152"/>
            <a:ext cx="2846561" cy="716161"/>
          </a:xfrm>
          <a:prstGeom prst="roundRect">
            <a:avLst>
              <a:gd name="adj" fmla="val 13300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5"/>
          <p:cNvSpPr/>
          <p:nvPr/>
        </p:nvSpPr>
        <p:spPr>
          <a:xfrm>
            <a:off x="5954539" y="4073723"/>
            <a:ext cx="284656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2" name="Shape 36"/>
          <p:cNvSpPr/>
          <p:nvPr/>
        </p:nvSpPr>
        <p:spPr>
          <a:xfrm>
            <a:off x="8797528" y="4070152"/>
            <a:ext cx="0" cy="71616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3" name="Shape 37"/>
          <p:cNvSpPr/>
          <p:nvPr/>
        </p:nvSpPr>
        <p:spPr>
          <a:xfrm>
            <a:off x="5954539" y="4782741"/>
            <a:ext cx="284656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Shape 38"/>
          <p:cNvSpPr/>
          <p:nvPr/>
        </p:nvSpPr>
        <p:spPr>
          <a:xfrm>
            <a:off x="5965254" y="4070152"/>
            <a:ext cx="0" cy="716161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5" name="Text 39"/>
          <p:cNvSpPr/>
          <p:nvPr/>
        </p:nvSpPr>
        <p:spPr>
          <a:xfrm>
            <a:off x="6075983" y="4163020"/>
            <a:ext cx="261796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IMPLICATION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075983" y="4323755"/>
            <a:ext cx="2617961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Forecasting accuracy on the top stores/families/cities has disproportionate business value — segment-specific model tuning may be warranted in future iterations.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42900" y="123230"/>
            <a:ext cx="74828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7840042" y="123230"/>
            <a:ext cx="10187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&amp; geography patterns</a:t>
            </a:r>
            <a:endParaRPr lang="en-US" sz="619" dirty="0"/>
          </a:p>
        </p:txBody>
      </p:sp>
      <p:sp>
        <p:nvSpPr>
          <p:cNvPr id="50" name="Text 4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40</a:t>
            </a:r>
            <a:endParaRPr lang="en-US" sz="61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00063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 CORRELATION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60797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 Analysis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4364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Correlations confirm three signal families — demand (transactions), promotion (onpromotion), and macro (oil).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50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261542"/>
            <a:ext cx="4598789" cy="3583992"/>
          </a:xfrm>
          <a:prstGeom prst="roundRect">
            <a:avLst>
              <a:gd name="adj" fmla="val 270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365126"/>
            <a:ext cx="118209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 HEATMAP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344" y="1497285"/>
            <a:ext cx="10953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Numeric Features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5492" y="1402845"/>
            <a:ext cx="734757" cy="196025"/>
          </a:xfrm>
          <a:prstGeom prst="roundRect">
            <a:avLst>
              <a:gd name="adj" fmla="val 4854215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13819" y="1413346"/>
            <a:ext cx="7381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7916" y="1711598"/>
            <a:ext cx="4355902" cy="2796890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7144">
            <a:solidFill>
              <a:srgbClr val="EEF2F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tmp/h2p-fit-1783722390590-rumc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772320"/>
            <a:ext cx="4234458" cy="267544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4344" y="4569209"/>
            <a:ext cx="436304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 correlation across 9 numeric features. Red = positive, blue = negative.</a:t>
            </a:r>
            <a:endParaRPr lang="en-US" sz="619" dirty="0"/>
          </a:p>
        </p:txBody>
      </p:sp>
      <p:sp>
        <p:nvSpPr>
          <p:cNvPr id="16" name="Text 13"/>
          <p:cNvSpPr/>
          <p:nvPr/>
        </p:nvSpPr>
        <p:spPr>
          <a:xfrm>
            <a:off x="5038130" y="1261542"/>
            <a:ext cx="3759398" cy="2610371"/>
          </a:xfrm>
          <a:prstGeom prst="roundRect">
            <a:avLst>
              <a:gd name="adj" fmla="val 364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56002" y="1393701"/>
            <a:ext cx="31450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CORRELATIONS WITH SALES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00752" y="1354625"/>
            <a:ext cx="393478" cy="196025"/>
          </a:xfrm>
          <a:prstGeom prst="roundRect">
            <a:avLst>
              <a:gd name="adj" fmla="val 485421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315325" y="1365126"/>
            <a:ext cx="3643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= 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156002" y="1915195"/>
            <a:ext cx="3523655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5156002" y="1661592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56002" y="1661592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27464" y="1694631"/>
            <a:ext cx="105493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 ↔ sales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7076599" y="1690167"/>
            <a:ext cx="73152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1013" dirty="0">
                <a:solidFill>
                  <a:srgbClr val="2E8B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+0.51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7725533" y="1700882"/>
            <a:ext cx="9541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POSITIVE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5156002" y="2236663"/>
            <a:ext cx="3523655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4"/>
          <p:cNvSpPr/>
          <p:nvPr/>
        </p:nvSpPr>
        <p:spPr>
          <a:xfrm>
            <a:off x="5156002" y="1983060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56002" y="198306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27464" y="2016100"/>
            <a:ext cx="100469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onpromotion ↔ sales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7036638" y="2011635"/>
            <a:ext cx="73152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1013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+0.42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7677013" y="2022351"/>
            <a:ext cx="10026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MODERATE POSITIVE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156002" y="2558132"/>
            <a:ext cx="3523655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Text 30"/>
          <p:cNvSpPr/>
          <p:nvPr/>
        </p:nvSpPr>
        <p:spPr>
          <a:xfrm>
            <a:off x="5156002" y="2304529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156002" y="2304529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27464" y="2337569"/>
            <a:ext cx="95446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dcoilwtico ↔ sales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7006277" y="2333104"/>
            <a:ext cx="73152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1013" dirty="0">
                <a:solidFill>
                  <a:srgbClr val="DC2F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−0.32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7640149" y="2343820"/>
            <a:ext cx="1039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MODERATE NEGATIVE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5156002" y="2879601"/>
            <a:ext cx="3523655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Text 36"/>
          <p:cNvSpPr/>
          <p:nvPr/>
        </p:nvSpPr>
        <p:spPr>
          <a:xfrm>
            <a:off x="5156002" y="2625998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156002" y="2625998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27464" y="2659038"/>
            <a:ext cx="95446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 ↔ sales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7076599" y="2654573"/>
            <a:ext cx="73152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+0.21</a:t>
            </a:r>
            <a:endParaRPr lang="en-US" sz="1013" dirty="0"/>
          </a:p>
        </p:txBody>
      </p:sp>
      <p:sp>
        <p:nvSpPr>
          <p:cNvPr id="43" name="Text 40"/>
          <p:cNvSpPr/>
          <p:nvPr/>
        </p:nvSpPr>
        <p:spPr>
          <a:xfrm>
            <a:off x="7722047" y="2665288"/>
            <a:ext cx="9610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 POSITIVE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156002" y="2947467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156002" y="2947467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427464" y="2980506"/>
            <a:ext cx="95446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is_holiday ↔ sales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7076599" y="2976042"/>
            <a:ext cx="73152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+0.15</a:t>
            </a:r>
            <a:endParaRPr lang="en-US" sz="1013" dirty="0"/>
          </a:p>
        </p:txBody>
      </p:sp>
      <p:sp>
        <p:nvSpPr>
          <p:cNvPr id="48" name="Text 45"/>
          <p:cNvSpPr/>
          <p:nvPr/>
        </p:nvSpPr>
        <p:spPr>
          <a:xfrm>
            <a:off x="7722047" y="2986757"/>
            <a:ext cx="9610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 POSITIVE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034558" y="3961209"/>
            <a:ext cx="3766542" cy="921545"/>
          </a:xfrm>
          <a:prstGeom prst="roundRect">
            <a:avLst>
              <a:gd name="adj" fmla="val 11544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045273" y="3961209"/>
            <a:ext cx="0" cy="82510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1" name="Text 48"/>
          <p:cNvSpPr/>
          <p:nvPr/>
        </p:nvSpPr>
        <p:spPr>
          <a:xfrm>
            <a:off x="5156002" y="4046934"/>
            <a:ext cx="3545086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156002" y="4207669"/>
            <a:ext cx="354508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Transactions is the strongest demand signal — but only available historically, not at inference time, which created an inference-time feature gap (discussed in Chapter 7). Oil price has a meaningful negative correlation reflecting Ecuadorian economic dynamics. Promotions and weekend flags provide moderate signal that the model can exploit.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42900" y="123230"/>
            <a:ext cx="77537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·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110947" y="123230"/>
            <a:ext cx="6901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 analysis</a:t>
            </a:r>
            <a:endParaRPr lang="en-US" sz="619" dirty="0"/>
          </a:p>
        </p:txBody>
      </p:sp>
      <p:sp>
        <p:nvSpPr>
          <p:cNvPr id="56" name="Text 53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40</a:t>
            </a:r>
            <a:endParaRPr lang="en-US" sz="61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39" y="257175"/>
            <a:ext cx="259061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25"/>
              </a:lnSpc>
              <a:buNone/>
            </a:pPr>
            <a:r>
              <a:rPr lang="en-US" sz="11250" b="1" kern="0" spc="-45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467916" y="4025503"/>
            <a:ext cx="0" cy="34290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53925" y="1073014"/>
            <a:ext cx="1865239" cy="94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7290"/>
              </a:lnSpc>
              <a:buNone/>
            </a:pPr>
            <a:r>
              <a:rPr lang="en-US" sz="8100" kern="0" spc="-32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6415610" y="2041661"/>
            <a:ext cx="134186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31933" y="2220255"/>
            <a:ext cx="11092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families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72100" y="2606018"/>
            <a:ext cx="1671638" cy="689372"/>
          </a:xfrm>
          <a:prstGeom prst="roundRect">
            <a:avLst>
              <a:gd name="adj" fmla="val 13817"/>
            </a:avLst>
          </a:prstGeom>
          <a:solidFill>
            <a:srgbClr val="1331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72113" y="270603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5472113" y="2906055"/>
            <a:ext cx="14716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72113" y="3077505"/>
            <a:ext cx="14716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features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29463" y="2606018"/>
            <a:ext cx="1671638" cy="689372"/>
          </a:xfrm>
          <a:prstGeom prst="roundRect">
            <a:avLst>
              <a:gd name="adj" fmla="val 13817"/>
            </a:avLst>
          </a:prstGeom>
          <a:solidFill>
            <a:srgbClr val="1331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29475" y="270603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7229475" y="2906055"/>
            <a:ext cx="14716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29475" y="3077505"/>
            <a:ext cx="14716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features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72100" y="3381115"/>
            <a:ext cx="1671638" cy="689372"/>
          </a:xfrm>
          <a:prstGeom prst="roundRect">
            <a:avLst>
              <a:gd name="adj" fmla="val 13817"/>
            </a:avLst>
          </a:prstGeom>
          <a:solidFill>
            <a:srgbClr val="1331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72113" y="34811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5472113" y="3681152"/>
            <a:ext cx="14716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2113" y="3852602"/>
            <a:ext cx="14716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features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29463" y="3381115"/>
            <a:ext cx="1671638" cy="689372"/>
          </a:xfrm>
          <a:prstGeom prst="roundRect">
            <a:avLst>
              <a:gd name="adj" fmla="val 13817"/>
            </a:avLst>
          </a:prstGeom>
          <a:solidFill>
            <a:srgbClr val="1331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29475" y="34811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7229475" y="3681152"/>
            <a:ext cx="14716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META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29475" y="3852602"/>
            <a:ext cx="14716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features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"/>
            <a:ext cx="5308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FOUR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757238"/>
            <a:ext cx="452628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457200" y="1768748"/>
            <a:ext cx="428625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" y="1961629"/>
            <a:ext cx="32861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Transforming raw data into model-ready predictive signals.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57200" y="4025503"/>
            <a:ext cx="4114800" cy="37033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engineering is often more important than model selection — the best model cannot learn from poorly designed features.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68428"/>
            <a:ext cx="5204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OF 07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FEATURES · 4 FAMILIES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Strategy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features across 4 families — each engineered with a business hypothesis, not random.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47279"/>
            <a:ext cx="2043113" cy="2731815"/>
          </a:xfrm>
          <a:prstGeom prst="roundRect">
            <a:avLst>
              <a:gd name="adj" fmla="val 466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056" y="1550863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345" y="157515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21519" y="1583010"/>
            <a:ext cx="110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TIME-BASED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54396" y="1580010"/>
            <a:ext cx="702090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36389" y="1588368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0056" y="1822326"/>
            <a:ext cx="1835944" cy="11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long-term trend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seasonal cycle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day-of-month effect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weekly pattern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weekofyear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annual position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binary flag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sin-cos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cyclical encoding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 sin-cos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cyclical encoding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0056" y="3732609"/>
            <a:ext cx="183594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50056" y="3729038"/>
            <a:ext cx="1835944" cy="360759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Created but excluded: month_sin, month_cos, dow_sin, dow_cos — retained as future option if model needs explicit cyclical signal.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82453" y="1447279"/>
            <a:ext cx="2043113" cy="2731815"/>
          </a:xfrm>
          <a:prstGeom prst="roundRect">
            <a:avLst>
              <a:gd name="adj" fmla="val 466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86038" y="1550863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10326" y="157515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857500" y="1583010"/>
            <a:ext cx="12111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72369" y="1580010"/>
            <a:ext cx="738106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72370" y="1588368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FEATURES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86038" y="1822326"/>
            <a:ext cx="1835944" cy="69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is_holiday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any holiday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is_national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country-wide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is_regional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state-level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is_local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city-level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is_event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special events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86038" y="3732609"/>
            <a:ext cx="183594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2"/>
          <p:cNvSpPr/>
          <p:nvPr/>
        </p:nvSpPr>
        <p:spPr>
          <a:xfrm>
            <a:off x="2586038" y="3729038"/>
            <a:ext cx="1835944" cy="360759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Geographic precision: a holiday in Quito does not affect Guayaquil predictions. Transferred holidays excluded.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18434" y="1447279"/>
            <a:ext cx="2043113" cy="2731815"/>
          </a:xfrm>
          <a:prstGeom prst="roundRect">
            <a:avLst>
              <a:gd name="adj" fmla="val 466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2019" y="1593726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6308" y="161801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993481" y="1550863"/>
            <a:ext cx="1108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SIGNALS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08350" y="1622872"/>
            <a:ext cx="738106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08351" y="1631231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FEATURES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2019" y="1908051"/>
            <a:ext cx="1835944" cy="41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dcoilwtico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oil price proxy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store traffic volume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onpromotion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promotional intensity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22019" y="3836194"/>
            <a:ext cx="183594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4722019" y="3832622"/>
            <a:ext cx="1835944" cy="257175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These capture the external environment that pure time-series models miss.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54416" y="1447279"/>
            <a:ext cx="2043113" cy="2731815"/>
          </a:xfrm>
          <a:prstGeom prst="roundRect">
            <a:avLst>
              <a:gd name="adj" fmla="val 466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8000" y="1550863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82289" y="157515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129463" y="1583010"/>
            <a:ext cx="110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METADATA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4334" y="1580010"/>
            <a:ext cx="738102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44332" y="1588368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FEATURES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1822326"/>
            <a:ext cx="1835944" cy="555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store_nbr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store identity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product category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city, state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geography</a:t>
            </a:r>
            <a:endParaRPr lang="en-US" sz="800" dirty="0"/>
          </a:p>
          <a:p>
            <a:pPr marL="342900" indent="-342900" algn="l">
              <a:lnSpc>
                <a:spcPts val="866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type, cluster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store segmentation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3836194"/>
            <a:ext cx="1835944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2" name="Text 40"/>
          <p:cNvSpPr/>
          <p:nvPr/>
        </p:nvSpPr>
        <p:spPr>
          <a:xfrm>
            <a:off x="6858000" y="3832622"/>
            <a:ext cx="1835944" cy="257175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Categorical features captured via OneHotEncoder in the pipeline.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2900" y="4268391"/>
            <a:ext cx="8458200" cy="446484"/>
          </a:xfrm>
          <a:prstGeom prst="roundRect">
            <a:avLst>
              <a:gd name="adj" fmla="val 2133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42900" y="4271963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5" name="Shape 43"/>
          <p:cNvSpPr/>
          <p:nvPr/>
        </p:nvSpPr>
        <p:spPr>
          <a:xfrm>
            <a:off x="8797528" y="4268391"/>
            <a:ext cx="0" cy="44648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6" name="Shape 44"/>
          <p:cNvSpPr/>
          <p:nvPr/>
        </p:nvSpPr>
        <p:spPr>
          <a:xfrm>
            <a:off x="342900" y="4711303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7" name="Shape 45"/>
          <p:cNvSpPr/>
          <p:nvPr/>
        </p:nvSpPr>
        <p:spPr>
          <a:xfrm>
            <a:off x="353616" y="4268391"/>
            <a:ext cx="0" cy="446484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8" name="Text 46"/>
          <p:cNvSpPr/>
          <p:nvPr/>
        </p:nvSpPr>
        <p:spPr>
          <a:xfrm>
            <a:off x="478631" y="4370189"/>
            <a:ext cx="242888" cy="242888"/>
          </a:xfrm>
          <a:prstGeom prst="ellipse">
            <a:avLst/>
          </a:prstGeom>
          <a:solidFill>
            <a:srgbClr val="FB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6849" y="439840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807244" y="4361259"/>
            <a:ext cx="7982140" cy="10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 CONSIDERED BUT EXCLUDED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7244" y="4493419"/>
            <a:ext cx="78724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features · leakage-aware engineering — lag features were created and tested but excluded from the final model to prevent target leakage at inference time.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3" name="Text 51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FEATURE ENGINEERING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619" dirty="0"/>
          </a:p>
        </p:txBody>
      </p:sp>
      <p:sp>
        <p:nvSpPr>
          <p:cNvPr id="56" name="Text 5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40</a:t>
            </a:r>
            <a:endParaRPr lang="en-US" sz="61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GAIN IMPORTANCE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Importance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feature importance validates EDA — promotions dominate, store traffic is second, oil captures macro.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47279"/>
            <a:ext cx="5067709" cy="3657600"/>
          </a:xfrm>
          <a:prstGeom prst="roundRect">
            <a:avLst>
              <a:gd name="adj" fmla="val 260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50863"/>
            <a:ext cx="38088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FEATURE IMPORTANCE (GAIN)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7478" y="1574081"/>
            <a:ext cx="71438" cy="71438"/>
          </a:xfrm>
          <a:prstGeom prst="roundRect">
            <a:avLst>
              <a:gd name="adj" fmla="val 2666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66506" y="1565852"/>
            <a:ext cx="4452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≥0.10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51474" y="1574081"/>
            <a:ext cx="71438" cy="71438"/>
          </a:xfrm>
          <a:prstGeom prst="roundRect">
            <a:avLst>
              <a:gd name="adj" fmla="val 26666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2132" y="1565852"/>
            <a:ext cx="4452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≥0.05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15471" y="1574081"/>
            <a:ext cx="71438" cy="71438"/>
          </a:xfrm>
          <a:prstGeom prst="roundRect">
            <a:avLst>
              <a:gd name="adj" fmla="val 26666"/>
            </a:avLst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94788" y="1563521"/>
            <a:ext cx="280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&lt;0.05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7916" y="1729457"/>
            <a:ext cx="4824822" cy="3101169"/>
          </a:xfrm>
          <a:prstGeom prst="roundRect">
            <a:avLst>
              <a:gd name="adj" fmla="val 30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/tmp/h2p-fit-1783722391663-me5yb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790179"/>
            <a:ext cx="4703378" cy="29797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64344" y="4891348"/>
            <a:ext cx="483196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16 features by gain. Bars colored by importance tier: navy ≥0.10, teal ≥0.05, light gray &lt;0.05.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5535625" y="1447279"/>
            <a:ext cx="3376092" cy="2882503"/>
          </a:xfrm>
          <a:prstGeom prst="roundRect">
            <a:avLst>
              <a:gd name="adj" fmla="val 330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53497" y="1579438"/>
            <a:ext cx="26092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INSIGHTS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56367" y="1540362"/>
            <a:ext cx="558150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277039" y="1550863"/>
            <a:ext cx="5168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53497" y="2303636"/>
            <a:ext cx="314034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5653497" y="1833042"/>
            <a:ext cx="185738" cy="185738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53497" y="1833042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910672" y="1868760"/>
            <a:ext cx="135717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PROMOTIONS DOMINATE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7632" y="1868760"/>
            <a:ext cx="46053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gain 0.18</a:t>
            </a:r>
            <a:endParaRPr lang="en-US" sz="619" dirty="0"/>
          </a:p>
        </p:txBody>
      </p:sp>
      <p:sp>
        <p:nvSpPr>
          <p:cNvPr id="27" name="Text 24"/>
          <p:cNvSpPr/>
          <p:nvPr/>
        </p:nvSpPr>
        <p:spPr>
          <a:xfrm>
            <a:off x="5910672" y="2008063"/>
            <a:ext cx="288317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onpromotion is the strongest individual predictor, validating our EDA finding of 15–25% sales uplift.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53497" y="2728243"/>
            <a:ext cx="314034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 26"/>
          <p:cNvSpPr/>
          <p:nvPr/>
        </p:nvSpPr>
        <p:spPr>
          <a:xfrm>
            <a:off x="5653497" y="2371502"/>
            <a:ext cx="185738" cy="185738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653497" y="2371502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10672" y="2407221"/>
            <a:ext cx="15401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TRAFFIC DRIVES SALES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7375653" y="2407221"/>
            <a:ext cx="46053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gain 0.15</a:t>
            </a:r>
            <a:endParaRPr lang="en-US" sz="619" dirty="0"/>
          </a:p>
        </p:txBody>
      </p:sp>
      <p:sp>
        <p:nvSpPr>
          <p:cNvPr id="33" name="Text 30"/>
          <p:cNvSpPr/>
          <p:nvPr/>
        </p:nvSpPr>
        <p:spPr>
          <a:xfrm>
            <a:off x="5910672" y="2546524"/>
            <a:ext cx="288317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transactions directly measures demand, as expected in retail.</a:t>
            </a:r>
            <a:endParaRPr lang="en-US" sz="619" dirty="0"/>
          </a:p>
        </p:txBody>
      </p:sp>
      <p:sp>
        <p:nvSpPr>
          <p:cNvPr id="34" name="Shape 31"/>
          <p:cNvSpPr/>
          <p:nvPr/>
        </p:nvSpPr>
        <p:spPr>
          <a:xfrm>
            <a:off x="5653497" y="3266703"/>
            <a:ext cx="314034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Text 32"/>
          <p:cNvSpPr/>
          <p:nvPr/>
        </p:nvSpPr>
        <p:spPr>
          <a:xfrm>
            <a:off x="5653497" y="2796108"/>
            <a:ext cx="185738" cy="185738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653497" y="2796108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910672" y="2831827"/>
            <a:ext cx="17274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CAPTURES MACRO SENTIMENT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7549112" y="2831827"/>
            <a:ext cx="46053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gain 0.12</a:t>
            </a:r>
            <a:endParaRPr lang="en-US" sz="619" dirty="0"/>
          </a:p>
        </p:txBody>
      </p:sp>
      <p:sp>
        <p:nvSpPr>
          <p:cNvPr id="39" name="Text 36"/>
          <p:cNvSpPr/>
          <p:nvPr/>
        </p:nvSpPr>
        <p:spPr>
          <a:xfrm>
            <a:off x="5910672" y="2971130"/>
            <a:ext cx="288317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dcoilwtico better than raw GDP because it directly affects Ecuadorian consumer confidence.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653497" y="3691310"/>
            <a:ext cx="314034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1" name="Text 38"/>
          <p:cNvSpPr/>
          <p:nvPr/>
        </p:nvSpPr>
        <p:spPr>
          <a:xfrm>
            <a:off x="5653497" y="3334569"/>
            <a:ext cx="185738" cy="185738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653497" y="333456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910672" y="3370287"/>
            <a:ext cx="142837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FAMILY MATTERS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7209449" y="3370287"/>
            <a:ext cx="46053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gain 0.11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5910672" y="3509590"/>
            <a:ext cx="288317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family — different categories have fundamentally different demand profiles.</a:t>
            </a:r>
            <a:endParaRPr lang="en-US" sz="619" dirty="0"/>
          </a:p>
        </p:txBody>
      </p:sp>
      <p:sp>
        <p:nvSpPr>
          <p:cNvPr id="46" name="Text 43"/>
          <p:cNvSpPr/>
          <p:nvPr/>
        </p:nvSpPr>
        <p:spPr>
          <a:xfrm>
            <a:off x="5653497" y="3759175"/>
            <a:ext cx="185738" cy="185738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653497" y="3759175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910672" y="3794894"/>
            <a:ext cx="16011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7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TEMPORAL ~25% COLLECTIVELY</a:t>
            </a:r>
            <a:endParaRPr lang="en-US" sz="675" dirty="0"/>
          </a:p>
        </p:txBody>
      </p:sp>
      <p:sp>
        <p:nvSpPr>
          <p:cNvPr id="49" name="Text 46"/>
          <p:cNvSpPr/>
          <p:nvPr/>
        </p:nvSpPr>
        <p:spPr>
          <a:xfrm>
            <a:off x="5910672" y="3934197"/>
            <a:ext cx="288317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 + dayofweek + year + is_weekend together account for ~25% of total importance.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32053" y="4419079"/>
            <a:ext cx="3383235" cy="521108"/>
          </a:xfrm>
          <a:prstGeom prst="roundRect">
            <a:avLst>
              <a:gd name="adj" fmla="val 13817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632066" y="4504804"/>
            <a:ext cx="214313" cy="214313"/>
          </a:xfrm>
          <a:prstGeom prst="ellipse">
            <a:avLst/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656354" y="452909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5932103" y="4504804"/>
            <a:ext cx="2883173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932103" y="4636963"/>
            <a:ext cx="288317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feature importance ranking aligns perfectly with our EDA insights. The model is learning meaningful business patterns, not memorizing noise — which gives us confidence that predictions will generalize.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6" name="Text 53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FEATURE ENGINEERING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619" dirty="0"/>
          </a:p>
        </p:txBody>
      </p:sp>
      <p:sp>
        <p:nvSpPr>
          <p:cNvPr id="59" name="Text 5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40</a:t>
            </a:r>
            <a:endParaRPr lang="en-US" sz="61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32684" y="1428750"/>
            <a:ext cx="3108731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13500" b="1" kern="0" spc="-54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0" dirty="0"/>
          </a:p>
        </p:txBody>
      </p:sp>
      <p:sp>
        <p:nvSpPr>
          <p:cNvPr id="5" name="Shape 3"/>
          <p:cNvSpPr/>
          <p:nvPr/>
        </p:nvSpPr>
        <p:spPr>
          <a:xfrm>
            <a:off x="467916" y="3132869"/>
            <a:ext cx="0" cy="417909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4768453"/>
            <a:ext cx="116603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05 OF 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0" y="1021556"/>
            <a:ext cx="33147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TESTED · RANKED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29250" y="1903809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5429250" y="1448395"/>
            <a:ext cx="314325" cy="314325"/>
          </a:xfrm>
          <a:prstGeom prst="ellipse">
            <a:avLst/>
          </a:prstGeom>
          <a:solidFill>
            <a:srgbClr val="D4A537"/>
          </a:solidFill>
          <a:ln/>
          <a:effectLst>
            <a:outerShdw blurRad="101600" dist="50800" dir="16200000" algn="bl" rotWithShape="0">
              <a:srgbClr val="D4A537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0" y="1448395"/>
            <a:ext cx="37861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40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872163" y="1439466"/>
            <a:ext cx="1895237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5872163" y="1653778"/>
            <a:ext cx="162597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GRADIENT BOOSTING · WINNER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5429250" y="2500313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5429250" y="2044898"/>
            <a:ext cx="314325" cy="314325"/>
          </a:xfrm>
          <a:prstGeom prst="ellipse">
            <a:avLst/>
          </a:prstGeom>
          <a:solidFill>
            <a:srgbClr val="13B5B1"/>
          </a:solidFill>
          <a:ln/>
          <a:effectLst>
            <a:outerShdw blurRad="101600" dist="50800" dir="16200000" algn="bl" rotWithShape="0">
              <a:srgbClr val="13B5B1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0" y="2044898"/>
            <a:ext cx="37861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5872163" y="2035969"/>
            <a:ext cx="1085675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5872163" y="2250281"/>
            <a:ext cx="117165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BAGGED TREES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29250" y="3096816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5429250" y="2641402"/>
            <a:ext cx="314325" cy="314325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29250" y="2641402"/>
            <a:ext cx="37861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5872163" y="2632472"/>
            <a:ext cx="1289361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Regression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5872163" y="2846784"/>
            <a:ext cx="139146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OLS BASELINE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29250" y="3693319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5429250" y="3237905"/>
            <a:ext cx="314325" cy="314325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29250" y="3237905"/>
            <a:ext cx="37861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5872163" y="3228975"/>
            <a:ext cx="1420749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SARIMA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5872163" y="3443288"/>
            <a:ext cx="14038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BASELINE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29250" y="3871913"/>
            <a:ext cx="33147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5429250" y="3868341"/>
            <a:ext cx="3314700" cy="354122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MODELS </a:t>
            </a: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8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 VALIDATION PROTOCOL </a:t>
            </a: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8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 WINNER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1592721"/>
            <a:ext cx="4114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22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FIVE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821321"/>
            <a:ext cx="4114800" cy="90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Modeling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457200" y="2761394"/>
            <a:ext cx="3429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Building, validating, and selecting the best forecasting model.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132869"/>
            <a:ext cx="3714750" cy="451342"/>
          </a:xfrm>
          <a:prstGeom prst="rect">
            <a:avLst/>
          </a:prstGeom>
          <a:noFill/>
          <a:ln/>
        </p:spPr>
        <p:txBody>
          <a:bodyPr wrap="square" lIns="114300" tIns="42863" rIns="0" bIns="42863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"Model selection was data-driven, not preference-driven — four models, one rigorous validation protocol, one winner."</a:t>
            </a:r>
            <a:endParaRPr lang="en-US" sz="8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MODELS · 1 PROTOCOL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 &amp; Validation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models tested. One validation protocol. Zero data leakage.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18704"/>
            <a:ext cx="2043113" cy="917972"/>
          </a:xfrm>
          <a:prstGeom prst="roundRect">
            <a:avLst>
              <a:gd name="adj" fmla="val 1037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1486570"/>
            <a:ext cx="14585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Regressor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85227" y="1483569"/>
            <a:ext cx="438443" cy="156020"/>
          </a:xfrm>
          <a:prstGeom prst="roundRect">
            <a:avLst>
              <a:gd name="adj" fmla="val 6098882"/>
            </a:avLst>
          </a:prstGeom>
          <a:solidFill>
            <a:srgbClr val="FBF3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63677" y="1491928"/>
            <a:ext cx="48154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8C69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WINNER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1665163"/>
            <a:ext cx="1878806" cy="19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Gradient boosting with mixed feature support, non-linear interactions, regularization.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1886620"/>
            <a:ext cx="1878806" cy="382191"/>
          </a:xfrm>
          <a:prstGeom prst="roundRect">
            <a:avLst>
              <a:gd name="adj" fmla="val 124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1886620"/>
            <a:ext cx="1878806" cy="382191"/>
          </a:xfrm>
          <a:prstGeom prst="rect">
            <a:avLst/>
          </a:prstGeom>
          <a:noFill/>
          <a:ln/>
        </p:spPr>
        <p:txBody>
          <a:bodyPr wrap="square" lIns="50006" tIns="35719" rIns="50006" bIns="35719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n_estimators=300 · lr=0.05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max_depth=8 · subsample=0.8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colsample=0.8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82453" y="1418704"/>
            <a:ext cx="2043113" cy="917972"/>
          </a:xfrm>
          <a:prstGeom prst="roundRect">
            <a:avLst>
              <a:gd name="adj" fmla="val 1037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64606" y="1486570"/>
            <a:ext cx="16755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Tuned Random Forest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43465" y="1483569"/>
            <a:ext cx="210920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54438" y="1491928"/>
            <a:ext cx="1889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4606" y="1665163"/>
            <a:ext cx="1878806" cy="19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Ensemble of decision trees with bagging. Handles mixed data types.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4606" y="1886620"/>
            <a:ext cx="1878806" cy="382191"/>
          </a:xfrm>
          <a:prstGeom prst="roundRect">
            <a:avLst>
              <a:gd name="adj" fmla="val 124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64606" y="1886620"/>
            <a:ext cx="1878806" cy="382191"/>
          </a:xfrm>
          <a:prstGeom prst="rect">
            <a:avLst/>
          </a:prstGeom>
          <a:noFill/>
          <a:ln/>
        </p:spPr>
        <p:txBody>
          <a:bodyPr wrap="square" lIns="50006" tIns="35719" rIns="50006" bIns="35719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n_estimators [10, 20]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max_depth [6, 10]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min_samples_split=10 · leaf=5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8434" y="1418704"/>
            <a:ext cx="2043113" cy="917972"/>
          </a:xfrm>
          <a:prstGeom prst="roundRect">
            <a:avLst>
              <a:gd name="adj" fmla="val 1037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00588" y="1486570"/>
            <a:ext cx="16755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79446" y="1483569"/>
            <a:ext cx="210920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90419" y="1491928"/>
            <a:ext cx="1889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0588" y="1665163"/>
            <a:ext cx="1878806" cy="19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Interpretable baseline. Fast training. Assumes linear relationships.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0588" y="1886620"/>
            <a:ext cx="1878806" cy="382191"/>
          </a:xfrm>
          <a:prstGeom prst="roundRect">
            <a:avLst>
              <a:gd name="adj" fmla="val 124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00588" y="1886620"/>
            <a:ext cx="1878806" cy="382191"/>
          </a:xfrm>
          <a:prstGeom prst="rect">
            <a:avLst/>
          </a:prstGeom>
          <a:noFill/>
          <a:ln/>
        </p:spPr>
        <p:txBody>
          <a:bodyPr wrap="square" lIns="50006" tIns="35719" rIns="50006" bIns="35719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· no regularization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reference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Closed-form solution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54416" y="1418704"/>
            <a:ext cx="2043113" cy="917972"/>
          </a:xfrm>
          <a:prstGeom prst="roundRect">
            <a:avLst>
              <a:gd name="adj" fmla="val 1037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36569" y="1486570"/>
            <a:ext cx="16755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SARIMA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15428" y="1483569"/>
            <a:ext cx="210920" cy="156020"/>
          </a:xfrm>
          <a:prstGeom prst="roundRect">
            <a:avLst>
              <a:gd name="adj" fmla="val 609888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526400" y="1491928"/>
            <a:ext cx="1889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4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6569" y="1665163"/>
            <a:ext cx="1878806" cy="19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 time-series baseline. Tests whether pure TS can compete with ML.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36569" y="1886620"/>
            <a:ext cx="1878806" cy="278606"/>
          </a:xfrm>
          <a:prstGeom prst="roundRect">
            <a:avLst>
              <a:gd name="adj" fmla="val 170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36569" y="1886620"/>
            <a:ext cx="1878806" cy="382191"/>
          </a:xfrm>
          <a:prstGeom prst="rect">
            <a:avLst/>
          </a:prstGeom>
          <a:noFill/>
          <a:ln/>
        </p:spPr>
        <p:txBody>
          <a:bodyPr wrap="square" lIns="50006" tIns="35719" rIns="50006" bIns="35719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order=(1,1,1)</a:t>
            </a:r>
            <a:endParaRPr lang="en-US" sz="800" dirty="0"/>
          </a:p>
          <a:p>
            <a:pPr marL="0" indent="0" algn="l">
              <a:lnSpc>
                <a:spcPts val="81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seasonal_order=(1,1,1,7)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6472" y="2415257"/>
            <a:ext cx="4644777" cy="2848570"/>
          </a:xfrm>
          <a:prstGeom prst="roundRect">
            <a:avLst>
              <a:gd name="adj" fmla="val 33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0056" y="2497410"/>
            <a:ext cx="443760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STRATEGY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0056" y="2701007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50056" y="2701007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7231" y="2701007"/>
            <a:ext cx="4290161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Chronological 80/20 Split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7231" y="2854598"/>
            <a:ext cx="418043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Train: 2013–2016 (2.4M rows). Test: 2017 (600K rows). No future data in training.</a:t>
            </a:r>
            <a:endParaRPr lang="en-US" sz="619" dirty="0"/>
          </a:p>
        </p:txBody>
      </p:sp>
      <p:sp>
        <p:nvSpPr>
          <p:cNvPr id="41" name="Shape 39"/>
          <p:cNvSpPr/>
          <p:nvPr/>
        </p:nvSpPr>
        <p:spPr>
          <a:xfrm>
            <a:off x="450056" y="3014886"/>
            <a:ext cx="443760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2" name="Text 40"/>
          <p:cNvSpPr/>
          <p:nvPr/>
        </p:nvSpPr>
        <p:spPr>
          <a:xfrm>
            <a:off x="450056" y="3061320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50056" y="3061320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7231" y="3061320"/>
            <a:ext cx="4290161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TimeSeriesSplit CV (3 folds)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7231" y="3214911"/>
            <a:ext cx="418043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Progressively expanding training windows. Robust performance estimation for time-series.</a:t>
            </a:r>
            <a:endParaRPr lang="en-US" sz="619" dirty="0"/>
          </a:p>
        </p:txBody>
      </p:sp>
      <p:sp>
        <p:nvSpPr>
          <p:cNvPr id="46" name="Shape 44"/>
          <p:cNvSpPr/>
          <p:nvPr/>
        </p:nvSpPr>
        <p:spPr>
          <a:xfrm>
            <a:off x="450056" y="3375199"/>
            <a:ext cx="443760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7" name="Text 45"/>
          <p:cNvSpPr/>
          <p:nvPr/>
        </p:nvSpPr>
        <p:spPr>
          <a:xfrm>
            <a:off x="450056" y="3421633"/>
            <a:ext cx="185738" cy="185738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50056" y="3421633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7231" y="3421633"/>
            <a:ext cx="418043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Leakage Prevention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7231" y="3575224"/>
            <a:ext cx="418043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future info in features. No target encoding. No lag features at inference.</a:t>
            </a:r>
            <a:endParaRPr lang="en-US" sz="619" dirty="0"/>
          </a:p>
        </p:txBody>
      </p:sp>
      <p:sp>
        <p:nvSpPr>
          <p:cNvPr id="51" name="Shape 49"/>
          <p:cNvSpPr/>
          <p:nvPr/>
        </p:nvSpPr>
        <p:spPr>
          <a:xfrm>
            <a:off x="450056" y="3778374"/>
            <a:ext cx="4437608" cy="0"/>
          </a:xfrm>
          <a:prstGeom prst="line">
            <a:avLst/>
          </a:prstGeom>
          <a:noFill/>
          <a:ln w="7144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2" name="Text 50"/>
          <p:cNvSpPr/>
          <p:nvPr/>
        </p:nvSpPr>
        <p:spPr>
          <a:xfrm>
            <a:off x="450056" y="3824808"/>
            <a:ext cx="28596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ARCHITECTURE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23965" y="3830166"/>
            <a:ext cx="1657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sklearn Pipeline · ColumnTransformer + XGBoost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3628" y="3974827"/>
            <a:ext cx="4430464" cy="1203275"/>
          </a:xfrm>
          <a:prstGeom prst="roundRect">
            <a:avLst>
              <a:gd name="adj" fmla="val 791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0" descr="/tmp/h2p-fit-1783722391502-p1jy0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006974"/>
            <a:ext cx="4366171" cy="1138982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5084118" y="2415257"/>
            <a:ext cx="3799024" cy="2848570"/>
          </a:xfrm>
          <a:prstGeom prst="roundRect">
            <a:avLst>
              <a:gd name="adj" fmla="val 33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187702" y="2525985"/>
            <a:ext cx="25671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DESIGN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746303" y="2486909"/>
            <a:ext cx="1056114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7769163" y="2497410"/>
            <a:ext cx="1010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3-FOLD EXPANDING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191274" y="2718867"/>
            <a:ext cx="3584711" cy="2187215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1" descr="/tmp/h2p-fit-1783722391493-iaiq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421" y="2751013"/>
            <a:ext cx="3520418" cy="2122922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5187702" y="4938229"/>
            <a:ext cx="3701583" cy="11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Train/test split + 3-fold expanding-window CV.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5187702" y="5076751"/>
            <a:ext cx="359185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sklearn Pipeline with ColumnTransformer (OneHotEncoder) + XGBoost.</a:t>
            </a:r>
            <a:endParaRPr lang="en-US" sz="600" dirty="0"/>
          </a:p>
        </p:txBody>
      </p:sp>
      <p:sp>
        <p:nvSpPr>
          <p:cNvPr id="64" name="Shape 6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5" name="Text 61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PREDICTIVE MODELING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619" dirty="0"/>
          </a:p>
        </p:txBody>
      </p:sp>
      <p:sp>
        <p:nvSpPr>
          <p:cNvPr id="68" name="Text 6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40</a:t>
            </a:r>
            <a:endParaRPr lang="en-US" sz="61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4-MODEL BENCHMARK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Comparison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wins by 19% RMSE margin over Random Forest, 61% over Linear Regression, and 99.7% over SARIMA.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18704"/>
            <a:ext cx="4644777" cy="1920441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1481" y="1479426"/>
            <a:ext cx="46044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 COMPARISON (LOG SCALE)</a:t>
            </a:r>
            <a:endParaRPr lang="en-US" sz="800" dirty="0"/>
          </a:p>
        </p:txBody>
      </p:sp>
      <p:pic>
        <p:nvPicPr>
          <p:cNvPr id="9" name="Image 0" descr="/tmp/h2p-fit-1783722391685-0smgj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" y="1611585"/>
            <a:ext cx="4494758" cy="15426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1481" y="3168476"/>
            <a:ext cx="449475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 scale reveals the order-of-magnitude gap between ML models and SARIMA.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46472" y="3403439"/>
            <a:ext cx="4644777" cy="1920441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1481" y="3464161"/>
            <a:ext cx="4494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COMPARISON</a:t>
            </a:r>
            <a:endParaRPr lang="en-US" sz="800" dirty="0"/>
          </a:p>
        </p:txBody>
      </p:sp>
      <p:pic>
        <p:nvPicPr>
          <p:cNvPr id="13" name="Image 1" descr="/tmp/h2p-fit-1783722391674-vk3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" y="3596320"/>
            <a:ext cx="4494758" cy="15426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1481" y="5153211"/>
            <a:ext cx="449475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clears the 0.90 target; SARIMA barely beats random.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109121" y="1415132"/>
            <a:ext cx="3806168" cy="1503759"/>
          </a:xfrm>
          <a:prstGeom prst="roundRect">
            <a:avLst>
              <a:gd name="adj" fmla="val 6334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209133" y="1493713"/>
            <a:ext cx="360614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SUMMARY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9133" y="1654448"/>
          <a:ext cx="3606142" cy="1138237"/>
        </p:xfrm>
        <a:graphic>
          <a:graphicData uri="http://schemas.openxmlformats.org/drawingml/2006/table">
            <a:tbl>
              <a:tblPr/>
              <a:tblGrid>
                <a:gridCol w="1342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RMSE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Verdict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XGBoost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331.61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0.9407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WINNER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 Forest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411.50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RUNNER-UP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 Regression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542.13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SARIMA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131,228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UNSUITED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>
                    <a:lnL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5109121" y="2976042"/>
            <a:ext cx="3806168" cy="1849560"/>
          </a:xfrm>
          <a:prstGeom prst="roundRect">
            <a:avLst>
              <a:gd name="adj" fmla="val 4051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109121" y="2979613"/>
            <a:ext cx="380616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8911717" y="2976042"/>
            <a:ext cx="0" cy="235141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6"/>
          <p:cNvSpPr/>
          <p:nvPr/>
        </p:nvSpPr>
        <p:spPr>
          <a:xfrm>
            <a:off x="5109121" y="5323880"/>
            <a:ext cx="380616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Shape 17"/>
          <p:cNvSpPr/>
          <p:nvPr/>
        </p:nvSpPr>
        <p:spPr>
          <a:xfrm>
            <a:off x="5119836" y="2976042"/>
            <a:ext cx="0" cy="184063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18"/>
          <p:cNvSpPr/>
          <p:nvPr/>
        </p:nvSpPr>
        <p:spPr>
          <a:xfrm>
            <a:off x="5230564" y="3061767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254853" y="308605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5530602" y="3061767"/>
            <a:ext cx="3387258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wins by 19% RMSE margin over RF.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530602" y="3206428"/>
            <a:ext cx="3277530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SARIMA failure: cannot handle multiple seasonalities + external regressors at this data scale — validates the ML approach. The 32-point R² gap between Linear Regression and XGBoost quantifies the value of non-linear modeling.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3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PREDICTIVE MODELING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619" dirty="0"/>
          </a:p>
        </p:txBody>
      </p:sp>
      <p:sp>
        <p:nvSpPr>
          <p:cNvPr id="31" name="Text 2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40</a:t>
            </a:r>
            <a:endParaRPr lang="en-US" sz="61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XGBOOST · DEPLOYED V1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Model Performance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= 0.9407 — 94% of sales variance explained across 33 diverse product families.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429420"/>
            <a:ext cx="2050256" cy="757572"/>
          </a:xfrm>
          <a:prstGeom prst="roundRect">
            <a:avLst>
              <a:gd name="adj" fmla="val 12573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529432"/>
            <a:ext cx="1821656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SCORE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70521"/>
            <a:ext cx="1821656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kern="0" spc="-4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457200" y="1969108"/>
            <a:ext cx="18216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Variance explained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78881" y="1429420"/>
            <a:ext cx="2050256" cy="757572"/>
          </a:xfrm>
          <a:prstGeom prst="roundRect">
            <a:avLst>
              <a:gd name="adj" fmla="val 12573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93181" y="1529432"/>
            <a:ext cx="1821656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93181" y="1670521"/>
            <a:ext cx="1821656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kern="0" spc="-4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2593181" y="1969108"/>
            <a:ext cx="18216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set (2017)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4863" y="1429420"/>
            <a:ext cx="2050256" cy="757572"/>
          </a:xfrm>
          <a:prstGeom prst="roundRect">
            <a:avLst>
              <a:gd name="adj" fmla="val 12573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9163" y="1529432"/>
            <a:ext cx="1821656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9163" y="1670521"/>
            <a:ext cx="1821656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kern="0" spc="-4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96.36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4729163" y="1969108"/>
            <a:ext cx="18216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Avg. abs. error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50844" y="1429420"/>
            <a:ext cx="2050256" cy="757572"/>
          </a:xfrm>
          <a:prstGeom prst="roundRect">
            <a:avLst>
              <a:gd name="adj" fmla="val 12573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65144" y="1529432"/>
            <a:ext cx="1821656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CV RMSE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65144" y="1670521"/>
            <a:ext cx="1821656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kern="0" spc="-4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475 ± 60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6865144" y="1969108"/>
            <a:ext cx="18216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3-fold expanding window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" y="2244142"/>
            <a:ext cx="84582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rows: 2,400,710 · Test rows: 600,178 · Features: 20 (16 numeric + 4 categorical)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6472" y="2437023"/>
            <a:ext cx="4644777" cy="1777343"/>
          </a:xfrm>
          <a:prstGeom prst="roundRect">
            <a:avLst>
              <a:gd name="adj" fmla="val 535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0056" y="2526320"/>
            <a:ext cx="4547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ACTUAL VS PREDICTED — TEST 2017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3628" y="2690626"/>
            <a:ext cx="4430464" cy="1263774"/>
          </a:xfrm>
          <a:prstGeom prst="roundRect">
            <a:avLst>
              <a:gd name="adj" fmla="val 753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0" descr="/tmp/h2p-fit-1783722392624-k1igz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2737061"/>
            <a:ext cx="4337596" cy="117090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0056" y="4015122"/>
            <a:ext cx="443760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alignment between actual (navy) and predicted (teal) across the entire 2017 test period.</a:t>
            </a:r>
            <a:endParaRPr lang="en-US" sz="619" dirty="0"/>
          </a:p>
        </p:txBody>
      </p:sp>
      <p:sp>
        <p:nvSpPr>
          <p:cNvPr id="29" name="Text 26"/>
          <p:cNvSpPr/>
          <p:nvPr/>
        </p:nvSpPr>
        <p:spPr>
          <a:xfrm>
            <a:off x="5112693" y="2437023"/>
            <a:ext cx="3799024" cy="1777343"/>
          </a:xfrm>
          <a:prstGeom prst="roundRect">
            <a:avLst>
              <a:gd name="adj" fmla="val 535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16277" y="2526320"/>
            <a:ext cx="35918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 PLOT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19849" y="2690626"/>
            <a:ext cx="3584711" cy="1263774"/>
          </a:xfrm>
          <a:prstGeom prst="roundRect">
            <a:avLst>
              <a:gd name="adj" fmla="val 753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/tmp/h2p-fit-1783722392553-8jer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283" y="2737061"/>
            <a:ext cx="3491843" cy="117090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16277" y="4015122"/>
            <a:ext cx="359185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Residuals centered at 0 with slight heteroscedasticity at high values (expected for count data).</a:t>
            </a:r>
            <a:endParaRPr lang="en-US" sz="619" dirty="0"/>
          </a:p>
        </p:txBody>
      </p:sp>
      <p:sp>
        <p:nvSpPr>
          <p:cNvPr id="34" name="Text 30"/>
          <p:cNvSpPr/>
          <p:nvPr/>
        </p:nvSpPr>
        <p:spPr>
          <a:xfrm>
            <a:off x="342900" y="4289375"/>
            <a:ext cx="8458200" cy="557213"/>
          </a:xfrm>
          <a:prstGeom prst="roundRect">
            <a:avLst>
              <a:gd name="adj" fmla="val 17094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342900" y="4292947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2"/>
          <p:cNvSpPr/>
          <p:nvPr/>
        </p:nvSpPr>
        <p:spPr>
          <a:xfrm>
            <a:off x="8797528" y="4289375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3"/>
          <p:cNvSpPr/>
          <p:nvPr/>
        </p:nvSpPr>
        <p:spPr>
          <a:xfrm>
            <a:off x="342900" y="4843016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Shape 34"/>
          <p:cNvSpPr/>
          <p:nvPr/>
        </p:nvSpPr>
        <p:spPr>
          <a:xfrm>
            <a:off x="353616" y="4289375"/>
            <a:ext cx="0" cy="55721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Text 35"/>
          <p:cNvSpPr/>
          <p:nvPr/>
        </p:nvSpPr>
        <p:spPr>
          <a:xfrm>
            <a:off x="464344" y="4375100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88633" y="439938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41" name="Text 37"/>
          <p:cNvSpPr/>
          <p:nvPr/>
        </p:nvSpPr>
        <p:spPr>
          <a:xfrm>
            <a:off x="764381" y="4375100"/>
            <a:ext cx="792956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INTERPRETATION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64381" y="4514404"/>
            <a:ext cx="792956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= 0.94 means 94% of sales variance is explained. MAE = 96 units average error across 33 diverse categories — strong given the range of sales values. Residuals centered at 0 with slight heteroscedasticity indicates the model is well-calibrated and not systematically biased.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Text 40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PREDICTIVE MODELING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619" dirty="0"/>
          </a:p>
        </p:txBody>
      </p:sp>
      <p:sp>
        <p:nvSpPr>
          <p:cNvPr id="47" name="Text 43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40</a:t>
            </a:r>
            <a:endParaRPr lang="en-US" sz="61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SELECTION RATIONALE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XGBoost Won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Non-linear interactions, mixed feature handling, and native regularization gave XGBoost the edge.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32992"/>
            <a:ext cx="4179094" cy="1675991"/>
          </a:xfrm>
          <a:prstGeom prst="roundRect">
            <a:avLst>
              <a:gd name="adj" fmla="val 568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6576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418" y="15576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764381" y="1565151"/>
            <a:ext cx="3643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63107" y="1569866"/>
            <a:ext cx="444587" cy="162020"/>
          </a:xfrm>
          <a:prstGeom prst="roundRect">
            <a:avLst>
              <a:gd name="adj" fmla="val 5873025"/>
            </a:avLst>
          </a:prstGeom>
          <a:solidFill>
            <a:srgbClr val="FBF3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44629" y="1578546"/>
            <a:ext cx="48154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b="1" kern="0" spc="53" dirty="0">
                <a:solidFill>
                  <a:srgbClr val="8C69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344" y="1822326"/>
            <a:ext cx="3943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6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TESTED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4" y="1938412"/>
            <a:ext cx="39433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47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State-of-the-art for tabular regression; handles mixed numeric + categorical via pipeline.</a:t>
            </a:r>
            <a:endParaRPr lang="en-US" sz="647" dirty="0"/>
          </a:p>
        </p:txBody>
      </p:sp>
      <p:sp>
        <p:nvSpPr>
          <p:cNvPr id="15" name="Text 13"/>
          <p:cNvSpPr/>
          <p:nvPr/>
        </p:nvSpPr>
        <p:spPr>
          <a:xfrm>
            <a:off x="592931" y="2128949"/>
            <a:ext cx="78415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344" y="212180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914" dirty="0"/>
          </a:p>
        </p:txBody>
      </p:sp>
      <p:sp>
        <p:nvSpPr>
          <p:cNvPr id="17" name="Text 15"/>
          <p:cNvSpPr/>
          <p:nvPr/>
        </p:nvSpPr>
        <p:spPr>
          <a:xfrm>
            <a:off x="464344" y="2250393"/>
            <a:ext cx="1928813" cy="53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Captures non-linear feature interactions natively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Handles external regressors without pre-transformation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Regularization via subsample + colsample_bytree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Fast inference (&lt;100ms)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7469" y="2128949"/>
            <a:ext cx="79238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78881" y="212180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14" dirty="0"/>
          </a:p>
        </p:txBody>
      </p:sp>
      <p:sp>
        <p:nvSpPr>
          <p:cNvPr id="20" name="Text 18"/>
          <p:cNvSpPr/>
          <p:nvPr/>
        </p:nvSpPr>
        <p:spPr>
          <a:xfrm>
            <a:off x="2478881" y="2250393"/>
            <a:ext cx="1928813" cy="26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 interpretable than linear models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Requires careful hyperparameter tuning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86025" y="2544411"/>
            <a:ext cx="1932384" cy="490247"/>
          </a:xfrm>
          <a:prstGeom prst="roundRect">
            <a:avLst>
              <a:gd name="adj" fmla="val 26722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494676" y="2617470"/>
            <a:ext cx="0" cy="348615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2486025" y="2544411"/>
            <a:ext cx="1932384" cy="490247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</a:t>
            </a: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best across all metrics (RMSE 331.61, R² 0.9407). 19% margin over runner-up.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8434" y="1432992"/>
            <a:ext cx="4179094" cy="1675991"/>
          </a:xfrm>
          <a:prstGeom prst="roundRect">
            <a:avLst>
              <a:gd name="adj" fmla="val 568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306" y="1536576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7380" y="15576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036344" y="1565151"/>
            <a:ext cx="3643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82707" y="1569866"/>
            <a:ext cx="596950" cy="162020"/>
          </a:xfrm>
          <a:prstGeom prst="roundRect">
            <a:avLst>
              <a:gd name="adj" fmla="val 587302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39104" y="1578546"/>
            <a:ext cx="68415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b="1" kern="0" spc="53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RUNNER-UP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306" y="1822326"/>
            <a:ext cx="3943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6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TESTED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306" y="1938412"/>
            <a:ext cx="39433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ensemble baseline; bagging reduces variance.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64894" y="2128949"/>
            <a:ext cx="78415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6306" y="212180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914" dirty="0"/>
          </a:p>
        </p:txBody>
      </p:sp>
      <p:sp>
        <p:nvSpPr>
          <p:cNvPr id="34" name="Text 32"/>
          <p:cNvSpPr/>
          <p:nvPr/>
        </p:nvSpPr>
        <p:spPr>
          <a:xfrm>
            <a:off x="4736306" y="2250393"/>
            <a:ext cx="1928813" cy="40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Robust to outliers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Minimal preprocessing needed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 default performance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79431" y="2128949"/>
            <a:ext cx="79238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50844" y="212180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14" dirty="0"/>
          </a:p>
        </p:txBody>
      </p:sp>
      <p:sp>
        <p:nvSpPr>
          <p:cNvPr id="37" name="Text 35"/>
          <p:cNvSpPr/>
          <p:nvPr/>
        </p:nvSpPr>
        <p:spPr>
          <a:xfrm>
            <a:off x="6750844" y="2250393"/>
            <a:ext cx="1928813" cy="40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Cannot extrapolate beyond training range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Larger memory footprint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Slower inference than XGBoost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306" y="2677678"/>
            <a:ext cx="3943350" cy="327720"/>
          </a:xfrm>
          <a:prstGeom prst="roundRect">
            <a:avLst>
              <a:gd name="adj" fmla="val 174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47022" y="2677678"/>
            <a:ext cx="0" cy="327720"/>
          </a:xfrm>
          <a:prstGeom prst="line">
            <a:avLst/>
          </a:prstGeom>
          <a:noFill/>
          <a:ln w="21431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38"/>
          <p:cNvSpPr/>
          <p:nvPr/>
        </p:nvSpPr>
        <p:spPr>
          <a:xfrm>
            <a:off x="4736306" y="2677678"/>
            <a:ext cx="3943350" cy="327720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RUNNER-UP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RMSE 411.50 (19% worse than XGBoost). Tuned via RandomizedSearchCV but could not close the gap.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6472" y="3201851"/>
            <a:ext cx="4179094" cy="1768413"/>
          </a:xfrm>
          <a:prstGeom prst="roundRect">
            <a:avLst>
              <a:gd name="adj" fmla="val 53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4344" y="3305435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5418" y="332651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764381" y="3334010"/>
            <a:ext cx="3643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81624" y="3338725"/>
            <a:ext cx="526070" cy="162020"/>
          </a:xfrm>
          <a:prstGeom prst="roundRect">
            <a:avLst>
              <a:gd name="adj" fmla="val 5873025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829556" y="3347405"/>
            <a:ext cx="63020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b="1" kern="0" spc="53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344" y="3591185"/>
            <a:ext cx="3943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6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TESTED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344" y="3707271"/>
            <a:ext cx="39433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Interpretable baseline; validates feature engineering.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2931" y="3897809"/>
            <a:ext cx="78415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4344" y="389066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914" dirty="0"/>
          </a:p>
        </p:txBody>
      </p:sp>
      <p:sp>
        <p:nvSpPr>
          <p:cNvPr id="51" name="Text 49"/>
          <p:cNvSpPr/>
          <p:nvPr/>
        </p:nvSpPr>
        <p:spPr>
          <a:xfrm>
            <a:off x="464344" y="4019252"/>
            <a:ext cx="1928813" cy="40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Fully interpretable coefficients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Extremely fast training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Serves as a sanity check on features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07469" y="3897809"/>
            <a:ext cx="79238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78881" y="389066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14" dirty="0"/>
          </a:p>
        </p:txBody>
      </p:sp>
      <p:sp>
        <p:nvSpPr>
          <p:cNvPr id="54" name="Text 52"/>
          <p:cNvSpPr/>
          <p:nvPr/>
        </p:nvSpPr>
        <p:spPr>
          <a:xfrm>
            <a:off x="2478881" y="4019252"/>
            <a:ext cx="1928813" cy="5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Cannot capture non-linear interactions (e.g., promotion × holiday)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Assumes additive feature effects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Underfits the seasonal + interaction structure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4344" y="4588198"/>
            <a:ext cx="3943350" cy="327720"/>
          </a:xfrm>
          <a:prstGeom prst="roundRect">
            <a:avLst>
              <a:gd name="adj" fmla="val 174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75059" y="4588198"/>
            <a:ext cx="0" cy="327720"/>
          </a:xfrm>
          <a:prstGeom prst="line">
            <a:avLst/>
          </a:prstGeom>
          <a:noFill/>
          <a:ln w="21431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7" name="Text 55"/>
          <p:cNvSpPr/>
          <p:nvPr/>
        </p:nvSpPr>
        <p:spPr>
          <a:xfrm>
            <a:off x="464344" y="4588198"/>
            <a:ext cx="3943350" cy="327720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0.62 — confirms linear relationships alone are insufficient. The 32-point R² gap to XGBoost is the value of non-linear modeling.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18434" y="3201851"/>
            <a:ext cx="4179094" cy="1768413"/>
          </a:xfrm>
          <a:prstGeom prst="roundRect">
            <a:avLst>
              <a:gd name="adj" fmla="val 538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36306" y="3305435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57380" y="332651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5036344" y="3334010"/>
            <a:ext cx="36433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SARIMA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149791" y="3338725"/>
            <a:ext cx="529865" cy="162020"/>
          </a:xfrm>
          <a:prstGeom prst="roundRect">
            <a:avLst>
              <a:gd name="adj" fmla="val 5873025"/>
            </a:avLst>
          </a:prstGeom>
          <a:solidFill>
            <a:srgbClr val="FB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099621" y="3347405"/>
            <a:ext cx="63020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b="1" kern="0" spc="53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UNSUITED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36306" y="3591185"/>
            <a:ext cx="3943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b="1" kern="0" spc="64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TESTED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36306" y="3707271"/>
            <a:ext cx="39433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whether pure statistical TS can compete with ML on this data.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64894" y="3897809"/>
            <a:ext cx="78415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36306" y="389066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914" dirty="0"/>
          </a:p>
        </p:txBody>
      </p:sp>
      <p:sp>
        <p:nvSpPr>
          <p:cNvPr id="68" name="Text 66"/>
          <p:cNvSpPr/>
          <p:nvPr/>
        </p:nvSpPr>
        <p:spPr>
          <a:xfrm>
            <a:off x="4736306" y="4019252"/>
            <a:ext cx="1928813" cy="26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Theoretically sound for univariate time-series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Captures trend + seasonality + AR/MA structure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879431" y="3897809"/>
            <a:ext cx="79238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50844" y="389066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14" dirty="0"/>
          </a:p>
        </p:txBody>
      </p:sp>
      <p:sp>
        <p:nvSpPr>
          <p:cNvPr id="71" name="Text 69"/>
          <p:cNvSpPr/>
          <p:nvPr/>
        </p:nvSpPr>
        <p:spPr>
          <a:xfrm>
            <a:off x="6750844" y="4019252"/>
            <a:ext cx="1928813" cy="5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Cannot handle multiple seasonalities (weekly + monthly + yearly)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Cannot incorporate external regressors at scale</a:t>
            </a:r>
            <a:endParaRPr lang="en-US" sz="800" dirty="0"/>
          </a:p>
          <a:p>
            <a:pPr marL="0" indent="0" algn="l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Computationally prohibitive for 1,782 series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36306" y="4609300"/>
            <a:ext cx="3943350" cy="263068"/>
          </a:xfrm>
          <a:prstGeom prst="roundRect">
            <a:avLst>
              <a:gd name="adj" fmla="val 17439"/>
            </a:avLst>
          </a:prstGeom>
          <a:solidFill>
            <a:srgbClr val="FB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747022" y="4609300"/>
            <a:ext cx="0" cy="263068"/>
          </a:xfrm>
          <a:prstGeom prst="line">
            <a:avLst/>
          </a:prstGeom>
          <a:noFill/>
          <a:ln w="21431">
            <a:solidFill>
              <a:srgbClr val="DC2F3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4" name="Text 72"/>
          <p:cNvSpPr/>
          <p:nvPr/>
        </p:nvSpPr>
        <p:spPr>
          <a:xfrm>
            <a:off x="4736306" y="4588198"/>
            <a:ext cx="3943350" cy="299584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 131,228 — 99.7% worse than XGBoost. Validates that pure TS methods are unsuitable for this multi-series, multi-seasonal, multi-regressor problem.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6" name="Text 7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PREDICTIVE MODELING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endParaRPr lang="en-US" sz="619" dirty="0"/>
          </a:p>
        </p:txBody>
      </p:sp>
      <p:sp>
        <p:nvSpPr>
          <p:cNvPr id="79" name="Text 7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40</a:t>
            </a:r>
            <a:endParaRPr lang="en-US" sz="61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32684" y="1428750"/>
            <a:ext cx="3108731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13500" b="1" kern="0" spc="-54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3500" dirty="0"/>
          </a:p>
        </p:txBody>
      </p:sp>
      <p:sp>
        <p:nvSpPr>
          <p:cNvPr id="5" name="Shape 3"/>
          <p:cNvSpPr/>
          <p:nvPr/>
        </p:nvSpPr>
        <p:spPr>
          <a:xfrm>
            <a:off x="467916" y="3132869"/>
            <a:ext cx="0" cy="417909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4768453"/>
            <a:ext cx="116603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06 OF 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0" y="1009055"/>
            <a:ext cx="33147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LAYERS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29250" y="2098477"/>
            <a:ext cx="33147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5429250" y="1525191"/>
            <a:ext cx="342900" cy="342900"/>
          </a:xfrm>
          <a:prstGeom prst="ellipse">
            <a:avLst/>
          </a:prstGeom>
          <a:solidFill>
            <a:srgbClr val="13B5B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757" y="15826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900738" y="1455539"/>
            <a:ext cx="11876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00738" y="1594842"/>
            <a:ext cx="1002604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Layer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5900738" y="1809155"/>
            <a:ext cx="10026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XGBoost · MLflow · v1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5429250" y="2902148"/>
            <a:ext cx="33147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5429250" y="2328863"/>
            <a:ext cx="342900" cy="342900"/>
          </a:xfrm>
          <a:prstGeom prst="ellipse">
            <a:avLst/>
          </a:prstGeom>
          <a:solidFill>
            <a:srgbClr val="13B5B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757" y="23863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5900738" y="2259211"/>
            <a:ext cx="1604161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00738" y="2398514"/>
            <a:ext cx="1479042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Layer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5900738" y="2612827"/>
            <a:ext cx="124794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/predict · /health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5429250" y="3705820"/>
            <a:ext cx="33147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429250" y="3132534"/>
            <a:ext cx="342900" cy="342900"/>
          </a:xfrm>
          <a:prstGeom prst="ellipse">
            <a:avLst/>
          </a:prstGeom>
          <a:solidFill>
            <a:srgbClr val="13B5B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86757" y="319004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00738" y="3062883"/>
            <a:ext cx="14566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00738" y="3202186"/>
            <a:ext cx="1229707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-1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Layer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900738" y="3416498"/>
            <a:ext cx="11541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· drift monitor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5429250" y="3884414"/>
            <a:ext cx="33147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5429250" y="3880842"/>
            <a:ext cx="3314700" cy="354122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DEPLOYMENT LAYERS </a:t>
            </a: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8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END-TO-END DATA FLOW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1592721"/>
            <a:ext cx="4114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22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SIX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1821321"/>
            <a:ext cx="4114800" cy="90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MLOps &amp;</a:t>
            </a:r>
            <a:endParaRPr lang="en-US" sz="3150" dirty="0"/>
          </a:p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457200" y="2761394"/>
            <a:ext cx="3429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Production-ready infrastructure for sustainable forecasting.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132869"/>
            <a:ext cx="3714750" cy="451342"/>
          </a:xfrm>
          <a:prstGeom prst="rect">
            <a:avLst/>
          </a:prstGeom>
          <a:noFill/>
          <a:ln/>
        </p:spPr>
        <p:txBody>
          <a:bodyPr wrap="square" lIns="114300" tIns="42863" rIns="0" bIns="42863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"A model that sits in a Jupyter notebook creates zero business value — deployment and monitoring are essential for real impact."</a:t>
            </a:r>
            <a:endParaRPr lang="en-US" sz="8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 TRACKING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Tracking — Overview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logs every model artifact — parameters, metrics, and serialized model — for full reproducibility.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18704"/>
            <a:ext cx="3206874" cy="1514475"/>
          </a:xfrm>
          <a:prstGeom prst="roundRect">
            <a:avLst>
              <a:gd name="adj" fmla="val 628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056" y="1500857"/>
            <a:ext cx="299970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0056" y="1661592"/>
            <a:ext cx="299970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kern="0" spc="-1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50056" y="1890192"/>
            <a:ext cx="29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Run: </a:t>
            </a: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Final_XGBoost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8529" y="2076143"/>
            <a:ext cx="1092320" cy="196025"/>
          </a:xfrm>
          <a:prstGeom prst="roundRect">
            <a:avLst>
              <a:gd name="adj" fmla="val 4854215"/>
            </a:avLst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7357" y="2086645"/>
            <a:ext cx="9946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2E8B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DEPLOYED AS V1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0056" y="2322388"/>
            <a:ext cx="2999705" cy="0"/>
          </a:xfrm>
          <a:prstGeom prst="line">
            <a:avLst/>
          </a:prstGeom>
          <a:noFill/>
          <a:ln w="7144">
            <a:solidFill>
              <a:srgbClr val="1A223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50056" y="2390254"/>
            <a:ext cx="548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106" y="2390254"/>
            <a:ext cx="2599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monitoring.py / mlflow_tracking.py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0056" y="2550988"/>
            <a:ext cx="548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Cell: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106" y="2550988"/>
            <a:ext cx="2599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168 · Python 3.10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0056" y="2711723"/>
            <a:ext cx="4903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106" y="2711723"/>
            <a:ext cx="259965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deployed as v1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" y="2993901"/>
            <a:ext cx="3214018" cy="1560909"/>
          </a:xfrm>
          <a:prstGeom prst="roundRect">
            <a:avLst>
              <a:gd name="adj" fmla="val 610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2913" y="3072482"/>
            <a:ext cx="301399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MLFLOW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2913" y="3226073"/>
            <a:ext cx="30139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provides experiment reproducibility, model versioning, and a clear audit trail from training to deployment. Every retraining run is logged with its parameters, metrics, and model artifact.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46215" y="1418704"/>
            <a:ext cx="5236927" cy="1057275"/>
          </a:xfrm>
          <a:prstGeom prst="roundRect">
            <a:avLst>
              <a:gd name="adj" fmla="val 900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49799" y="1493713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74088" y="151800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049837" y="1541934"/>
            <a:ext cx="4729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33742" y="1516859"/>
            <a:ext cx="445815" cy="168021"/>
          </a:xfrm>
          <a:prstGeom prst="roundRect">
            <a:avLst>
              <a:gd name="adj" fmla="val 566326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61929" y="1525860"/>
            <a:ext cx="5894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PARAMS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799" y="1900907"/>
            <a:ext cx="242909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3749799" y="1758032"/>
            <a:ext cx="174687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type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0957" y="1758032"/>
            <a:ext cx="66794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Regressor</a:t>
            </a:r>
            <a:endParaRPr lang="en-US" sz="619" dirty="0"/>
          </a:p>
        </p:txBody>
      </p:sp>
      <p:sp>
        <p:nvSpPr>
          <p:cNvPr id="32" name="Shape 30"/>
          <p:cNvSpPr/>
          <p:nvPr/>
        </p:nvSpPr>
        <p:spPr>
          <a:xfrm>
            <a:off x="3749799" y="2068785"/>
            <a:ext cx="242909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3749799" y="1925910"/>
            <a:ext cx="229693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975" y="1925910"/>
            <a:ext cx="19997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</a:t>
            </a:r>
            <a:endParaRPr lang="en-US" sz="619" dirty="0"/>
          </a:p>
        </p:txBody>
      </p:sp>
      <p:sp>
        <p:nvSpPr>
          <p:cNvPr id="35" name="Shape 33"/>
          <p:cNvSpPr/>
          <p:nvPr/>
        </p:nvSpPr>
        <p:spPr>
          <a:xfrm>
            <a:off x="3749799" y="2236663"/>
            <a:ext cx="242909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3749799" y="2093788"/>
            <a:ext cx="22576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79466" y="2093788"/>
            <a:ext cx="2417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0.05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3749799" y="2261667"/>
            <a:ext cx="237552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39607" y="2261667"/>
            <a:ext cx="9144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0347" y="1900907"/>
            <a:ext cx="242921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1" name="Text 39"/>
          <p:cNvSpPr/>
          <p:nvPr/>
        </p:nvSpPr>
        <p:spPr>
          <a:xfrm>
            <a:off x="6350347" y="1758032"/>
            <a:ext cx="22970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28516" y="1758032"/>
            <a:ext cx="18421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</a:t>
            </a:r>
            <a:endParaRPr lang="en-US" sz="619" dirty="0"/>
          </a:p>
        </p:txBody>
      </p:sp>
      <p:sp>
        <p:nvSpPr>
          <p:cNvPr id="43" name="Shape 41"/>
          <p:cNvSpPr/>
          <p:nvPr/>
        </p:nvSpPr>
        <p:spPr>
          <a:xfrm>
            <a:off x="6350347" y="2068785"/>
            <a:ext cx="242921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Text 42"/>
          <p:cNvSpPr/>
          <p:nvPr/>
        </p:nvSpPr>
        <p:spPr>
          <a:xfrm>
            <a:off x="6350347" y="1925910"/>
            <a:ext cx="22970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28516" y="1925910"/>
            <a:ext cx="18421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6350347" y="2093788"/>
            <a:ext cx="23363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75454" y="2093788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3646215" y="2540273"/>
            <a:ext cx="5236927" cy="889397"/>
          </a:xfrm>
          <a:prstGeom prst="roundRect">
            <a:avLst>
              <a:gd name="adj" fmla="val 10710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49799" y="2615282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774088" y="263957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4049837" y="2663503"/>
            <a:ext cx="4729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92331" y="2638428"/>
            <a:ext cx="487226" cy="168021"/>
          </a:xfrm>
          <a:prstGeom prst="roundRect">
            <a:avLst>
              <a:gd name="adj" fmla="val 566326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204058" y="2647429"/>
            <a:ext cx="66377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METRICS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49799" y="3022476"/>
            <a:ext cx="242909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5" name="Text 53"/>
          <p:cNvSpPr/>
          <p:nvPr/>
        </p:nvSpPr>
        <p:spPr>
          <a:xfrm>
            <a:off x="3749799" y="2879601"/>
            <a:ext cx="213977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34295" y="2879601"/>
            <a:ext cx="41417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96.3638</a:t>
            </a:r>
            <a:endParaRPr lang="en-US" sz="619" dirty="0"/>
          </a:p>
        </p:txBody>
      </p:sp>
      <p:sp>
        <p:nvSpPr>
          <p:cNvPr id="57" name="Shape 55"/>
          <p:cNvSpPr/>
          <p:nvPr/>
        </p:nvSpPr>
        <p:spPr>
          <a:xfrm>
            <a:off x="3749799" y="3190354"/>
            <a:ext cx="242909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8" name="Text 56"/>
          <p:cNvSpPr/>
          <p:nvPr/>
        </p:nvSpPr>
        <p:spPr>
          <a:xfrm>
            <a:off x="3749799" y="3047479"/>
            <a:ext cx="202190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97006" y="3047479"/>
            <a:ext cx="57087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109,965.41</a:t>
            </a:r>
            <a:endParaRPr lang="en-US" sz="619" dirty="0"/>
          </a:p>
        </p:txBody>
      </p:sp>
      <p:sp>
        <p:nvSpPr>
          <p:cNvPr id="60" name="Text 58"/>
          <p:cNvSpPr/>
          <p:nvPr/>
        </p:nvSpPr>
        <p:spPr>
          <a:xfrm>
            <a:off x="3749799" y="3215357"/>
            <a:ext cx="210048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842483" y="3215357"/>
            <a:ext cx="47166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331.6103</a:t>
            </a:r>
            <a:endParaRPr lang="en-US" sz="619" dirty="0"/>
          </a:p>
        </p:txBody>
      </p:sp>
      <p:sp>
        <p:nvSpPr>
          <p:cNvPr id="62" name="Shape 60"/>
          <p:cNvSpPr/>
          <p:nvPr/>
        </p:nvSpPr>
        <p:spPr>
          <a:xfrm>
            <a:off x="6350347" y="3022476"/>
            <a:ext cx="242921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3" name="Text 61"/>
          <p:cNvSpPr/>
          <p:nvPr/>
        </p:nvSpPr>
        <p:spPr>
          <a:xfrm>
            <a:off x="6350347" y="2879601"/>
            <a:ext cx="217917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483345" y="2879601"/>
            <a:ext cx="35668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6350347" y="3047479"/>
            <a:ext cx="18569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RMSE mean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139550" y="3047479"/>
            <a:ext cx="722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475.12 ± 60.20</a:t>
            </a:r>
            <a:endParaRPr lang="en-US" sz="619" dirty="0"/>
          </a:p>
        </p:txBody>
      </p:sp>
      <p:sp>
        <p:nvSpPr>
          <p:cNvPr id="67" name="Text 65"/>
          <p:cNvSpPr/>
          <p:nvPr/>
        </p:nvSpPr>
        <p:spPr>
          <a:xfrm>
            <a:off x="3646215" y="3493963"/>
            <a:ext cx="5236927" cy="1057275"/>
          </a:xfrm>
          <a:prstGeom prst="roundRect">
            <a:avLst>
              <a:gd name="adj" fmla="val 900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749799" y="3568973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774088" y="359326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4049837" y="3617193"/>
            <a:ext cx="4729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ARTIFACTS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375154" y="3592119"/>
            <a:ext cx="404403" cy="168021"/>
          </a:xfrm>
          <a:prstGeom prst="roundRect">
            <a:avLst>
              <a:gd name="adj" fmla="val 566326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319800" y="3601120"/>
            <a:ext cx="515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45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FILES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49799" y="3976167"/>
            <a:ext cx="502975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4" name="Text 72"/>
          <p:cNvSpPr/>
          <p:nvPr/>
        </p:nvSpPr>
        <p:spPr>
          <a:xfrm>
            <a:off x="3749799" y="3833292"/>
            <a:ext cx="399391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model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58001" y="3833292"/>
            <a:ext cx="10828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 serialized pipeline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3749799" y="4144045"/>
            <a:ext cx="502975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7" name="Text 75"/>
          <p:cNvSpPr/>
          <p:nvPr/>
        </p:nvSpPr>
        <p:spPr>
          <a:xfrm>
            <a:off x="3749799" y="4001170"/>
            <a:ext cx="430823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model_metrics.json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072326" y="4001170"/>
            <a:ext cx="7072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4-model comparison</a:t>
            </a:r>
            <a:endParaRPr lang="en-US" sz="619" dirty="0"/>
          </a:p>
        </p:txBody>
      </p:sp>
      <p:sp>
        <p:nvSpPr>
          <p:cNvPr id="79" name="Shape 77"/>
          <p:cNvSpPr/>
          <p:nvPr/>
        </p:nvSpPr>
        <p:spPr>
          <a:xfrm>
            <a:off x="3749799" y="4311923"/>
            <a:ext cx="502975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0" name="Text 78"/>
          <p:cNvSpPr/>
          <p:nvPr/>
        </p:nvSpPr>
        <p:spPr>
          <a:xfrm>
            <a:off x="3749799" y="4169048"/>
            <a:ext cx="411178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monitoring_log.json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875873" y="4169048"/>
            <a:ext cx="9036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detection results</a:t>
            </a:r>
            <a:endParaRPr lang="en-US" sz="619" dirty="0"/>
          </a:p>
        </p:txBody>
      </p:sp>
      <p:sp>
        <p:nvSpPr>
          <p:cNvPr id="82" name="Text 80"/>
          <p:cNvSpPr/>
          <p:nvPr/>
        </p:nvSpPr>
        <p:spPr>
          <a:xfrm>
            <a:off x="3749799" y="4336926"/>
            <a:ext cx="442611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retraining_config.json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190198" y="4336926"/>
            <a:ext cx="5893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history</a:t>
            </a:r>
            <a:endParaRPr lang="en-US" sz="619" dirty="0"/>
          </a:p>
        </p:txBody>
      </p:sp>
      <p:sp>
        <p:nvSpPr>
          <p:cNvPr id="84" name="Text 82"/>
          <p:cNvSpPr/>
          <p:nvPr/>
        </p:nvSpPr>
        <p:spPr>
          <a:xfrm>
            <a:off x="342900" y="4400550"/>
            <a:ext cx="8458200" cy="314325"/>
          </a:xfrm>
          <a:prstGeom prst="roundRect">
            <a:avLst>
              <a:gd name="adj" fmla="val 3030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342900" y="4404122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6" name="Shape 84"/>
          <p:cNvSpPr/>
          <p:nvPr/>
        </p:nvSpPr>
        <p:spPr>
          <a:xfrm>
            <a:off x="8797528" y="4400550"/>
            <a:ext cx="0" cy="3143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7" name="Shape 85"/>
          <p:cNvSpPr/>
          <p:nvPr/>
        </p:nvSpPr>
        <p:spPr>
          <a:xfrm>
            <a:off x="342900" y="4711303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8" name="Shape 86"/>
          <p:cNvSpPr/>
          <p:nvPr/>
        </p:nvSpPr>
        <p:spPr>
          <a:xfrm>
            <a:off x="353616" y="4400550"/>
            <a:ext cx="0" cy="314325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9" name="Text 87"/>
          <p:cNvSpPr/>
          <p:nvPr/>
        </p:nvSpPr>
        <p:spPr>
          <a:xfrm>
            <a:off x="464344" y="4464844"/>
            <a:ext cx="185738" cy="185738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84703" y="4485203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91" name="Text 89"/>
          <p:cNvSpPr/>
          <p:nvPr/>
        </p:nvSpPr>
        <p:spPr>
          <a:xfrm>
            <a:off x="701213" y="4513064"/>
            <a:ext cx="56067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Experiment:</a:t>
            </a:r>
            <a:endParaRPr lang="en-US" sz="619" dirty="0"/>
          </a:p>
        </p:txBody>
      </p:sp>
      <p:sp>
        <p:nvSpPr>
          <p:cNvPr id="92" name="Text 90"/>
          <p:cNvSpPr/>
          <p:nvPr/>
        </p:nvSpPr>
        <p:spPr>
          <a:xfrm>
            <a:off x="1177044" y="4513064"/>
            <a:ext cx="78832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</a:t>
            </a:r>
            <a:endParaRPr lang="en-US" sz="619" dirty="0"/>
          </a:p>
        </p:txBody>
      </p:sp>
      <p:sp>
        <p:nvSpPr>
          <p:cNvPr id="93" name="Text 91"/>
          <p:cNvSpPr/>
          <p:nvPr/>
        </p:nvSpPr>
        <p:spPr>
          <a:xfrm>
            <a:off x="1928701" y="4513064"/>
            <a:ext cx="9144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016557" y="4513064"/>
            <a:ext cx="288524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Run: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217576" y="4505920"/>
            <a:ext cx="59863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Final_XGBoost</a:t>
            </a:r>
            <a:endParaRPr lang="en-US" sz="619" dirty="0"/>
          </a:p>
        </p:txBody>
      </p:sp>
      <p:sp>
        <p:nvSpPr>
          <p:cNvPr id="96" name="Text 94"/>
          <p:cNvSpPr/>
          <p:nvPr/>
        </p:nvSpPr>
        <p:spPr>
          <a:xfrm>
            <a:off x="2807382" y="4513064"/>
            <a:ext cx="9144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2880975" y="4513064"/>
            <a:ext cx="367807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Status:</a:t>
            </a:r>
            <a:endParaRPr lang="en-US" sz="619" dirty="0"/>
          </a:p>
        </p:txBody>
      </p:sp>
      <p:sp>
        <p:nvSpPr>
          <p:cNvPr id="98" name="Text 96"/>
          <p:cNvSpPr/>
          <p:nvPr/>
        </p:nvSpPr>
        <p:spPr>
          <a:xfrm>
            <a:off x="3171372" y="4513064"/>
            <a:ext cx="66731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deployed as v1</a:t>
            </a:r>
            <a:endParaRPr lang="en-US" sz="619" dirty="0"/>
          </a:p>
        </p:txBody>
      </p:sp>
      <p:sp>
        <p:nvSpPr>
          <p:cNvPr id="99" name="Shape 97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0" name="Text 98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</a:t>
            </a:r>
            <a:endParaRPr lang="en-US" sz="619" dirty="0"/>
          </a:p>
        </p:txBody>
      </p:sp>
      <p:sp>
        <p:nvSpPr>
          <p:cNvPr id="103" name="Text 10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40</a:t>
            </a:r>
            <a:endParaRPr lang="en-US" sz="61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REPRODUCIBLE ARTIFACT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Tracking — Code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complete MLflow logging call — one clean block, replacing fragmented text boxes from the original deck.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8631" y="1450851"/>
            <a:ext cx="3601000" cy="13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900" kern="0" spc="25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monitoring.py / mlflow_tracking.py · Cell 168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2900" y="145620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9" name="Text 7"/>
          <p:cNvSpPr/>
          <p:nvPr/>
        </p:nvSpPr>
        <p:spPr>
          <a:xfrm>
            <a:off x="342900" y="1618729"/>
            <a:ext cx="5751500" cy="2921124"/>
          </a:xfrm>
          <a:prstGeom prst="roundRect">
            <a:avLst>
              <a:gd name="adj" fmla="val 3261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0B2545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8638" y="1797323"/>
            <a:ext cx="250031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78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 the Final_XGBoost run — full reproducibility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528638" y="1967322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8675" y="1967322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8681" y="1967322"/>
            <a:ext cx="875109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set_experiment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78769" y="1967322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28775" y="1967322"/>
            <a:ext cx="1187648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"Sales Forecasting"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8894" y="1967322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638" y="2307320"/>
            <a:ext cx="3200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8669" y="2307320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706" y="2307320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8713" y="2307320"/>
            <a:ext cx="64358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start_run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78769" y="2307320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28775" y="2307320"/>
            <a:ext cx="572072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run_name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28825" y="2307320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78831" y="2307320"/>
            <a:ext cx="937617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"Final_XGBoost"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28925" y="2307320"/>
            <a:ext cx="16002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8663" y="2477319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28700" y="2477319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8706" y="2477319"/>
            <a:ext cx="64358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log_param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28763" y="2477319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78769" y="2477319"/>
            <a:ext cx="50056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28813" y="2477319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28825" y="2477319"/>
            <a:ext cx="64358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"XGBoost"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78881" y="2477319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8663" y="2647317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28700" y="2647317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5953" y="2647317"/>
            <a:ext cx="650585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log_metric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578769" y="2647317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28775" y="2647317"/>
            <a:ext cx="40005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"MAE"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78806" y="2647317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78819" y="2647317"/>
            <a:ext cx="50056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xgb_mae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28863" y="2647317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8663" y="2817316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28700" y="2817316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5953" y="2817316"/>
            <a:ext cx="650585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log_metric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578769" y="2817316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28775" y="2817316"/>
            <a:ext cx="40005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"MSE"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78806" y="2817316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78819" y="2817316"/>
            <a:ext cx="50056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xgb_mse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28863" y="2817316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8663" y="2987315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28700" y="2987315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65953" y="2987315"/>
            <a:ext cx="650585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log_metric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578769" y="2987315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622911" y="2987315"/>
            <a:ext cx="440781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"RMSE"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28813" y="2987315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028825" y="2987315"/>
            <a:ext cx="572072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xgb_rmse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428875" y="2987315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8663" y="3157314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28700" y="3157314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65953" y="3157314"/>
            <a:ext cx="650585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log_metric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578769" y="3157314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628775" y="3157314"/>
            <a:ext cx="3200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"R2"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828800" y="3157314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928813" y="3157314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xgb_r2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228850" y="3157314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8663" y="3327313"/>
            <a:ext cx="42905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28700" y="3327313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78706" y="3327313"/>
            <a:ext cx="50056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428750" y="3327313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478756" y="3327313"/>
            <a:ext cx="64358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928813" y="3327313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16100" y="3497312"/>
            <a:ext cx="775269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xgb_pipeline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528763" y="3497312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566098" y="3497312"/>
            <a:ext cx="712927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named_steps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128838" y="3497312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178844" y="3497312"/>
            <a:ext cx="50056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528888" y="3497312"/>
            <a:ext cx="16002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28688" y="3667311"/>
            <a:ext cx="812602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artifact_path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578769" y="3667311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628775" y="3667311"/>
            <a:ext cx="937617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"xgboost_model"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8663" y="3837310"/>
            <a:ext cx="9144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42900" y="4597003"/>
            <a:ext cx="575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name: </a:t>
            </a: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Final_XGBoost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1 param + 4 metrics + 1 model artifact logged per run.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08700" y="1443707"/>
            <a:ext cx="2706588" cy="2454994"/>
          </a:xfrm>
          <a:prstGeom prst="roundRect">
            <a:avLst>
              <a:gd name="adj" fmla="val 3880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323000" y="1543720"/>
            <a:ext cx="247798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LOGGING ANATOMY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323000" y="1754460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323000" y="1754460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565888" y="1754460"/>
            <a:ext cx="118784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set_experiment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565888" y="1890192"/>
            <a:ext cx="109460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defines the experiment name</a:t>
            </a:r>
            <a:endParaRPr lang="en-US" sz="619" dirty="0"/>
          </a:p>
        </p:txBody>
      </p:sp>
      <p:sp>
        <p:nvSpPr>
          <p:cNvPr id="89" name="Shape 87"/>
          <p:cNvSpPr/>
          <p:nvPr/>
        </p:nvSpPr>
        <p:spPr>
          <a:xfrm>
            <a:off x="6323000" y="2057623"/>
            <a:ext cx="247798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0" name="Text 88"/>
          <p:cNvSpPr/>
          <p:nvPr/>
        </p:nvSpPr>
        <p:spPr>
          <a:xfrm>
            <a:off x="6323000" y="2111201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6323000" y="2111201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565888" y="2111201"/>
            <a:ext cx="167178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start_run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565888" y="2246933"/>
            <a:ext cx="141056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opens a new tracked run with a name</a:t>
            </a:r>
            <a:endParaRPr lang="en-US" sz="619" dirty="0"/>
          </a:p>
        </p:txBody>
      </p:sp>
      <p:sp>
        <p:nvSpPr>
          <p:cNvPr id="94" name="Shape 92"/>
          <p:cNvSpPr/>
          <p:nvPr/>
        </p:nvSpPr>
        <p:spPr>
          <a:xfrm>
            <a:off x="6323000" y="2414364"/>
            <a:ext cx="247798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5" name="Text 93"/>
          <p:cNvSpPr/>
          <p:nvPr/>
        </p:nvSpPr>
        <p:spPr>
          <a:xfrm>
            <a:off x="6323000" y="2467942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6323000" y="2467942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6565888" y="2467942"/>
            <a:ext cx="103727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log_param / log_metric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565888" y="2603674"/>
            <a:ext cx="1105167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records scalar values</a:t>
            </a:r>
            <a:endParaRPr lang="en-US" sz="619" dirty="0"/>
          </a:p>
        </p:txBody>
      </p:sp>
      <p:sp>
        <p:nvSpPr>
          <p:cNvPr id="99" name="Shape 97"/>
          <p:cNvSpPr/>
          <p:nvPr/>
        </p:nvSpPr>
        <p:spPr>
          <a:xfrm>
            <a:off x="6323000" y="2771105"/>
            <a:ext cx="2477988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0" name="Text 98"/>
          <p:cNvSpPr/>
          <p:nvPr/>
        </p:nvSpPr>
        <p:spPr>
          <a:xfrm>
            <a:off x="6323000" y="2824683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6323000" y="2824683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565888" y="2824683"/>
            <a:ext cx="121872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 err="1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565888" y="2960415"/>
            <a:ext cx="10282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serializes the model artifact</a:t>
            </a:r>
            <a:endParaRPr lang="en-US" sz="619" dirty="0"/>
          </a:p>
        </p:txBody>
      </p:sp>
      <p:sp>
        <p:nvSpPr>
          <p:cNvPr id="104" name="Text 102"/>
          <p:cNvSpPr/>
          <p:nvPr/>
        </p:nvSpPr>
        <p:spPr>
          <a:xfrm>
            <a:off x="6208700" y="3984427"/>
            <a:ext cx="2706588" cy="726876"/>
          </a:xfrm>
          <a:prstGeom prst="roundRect">
            <a:avLst>
              <a:gd name="adj" fmla="val 13040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Shape 103"/>
          <p:cNvSpPr/>
          <p:nvPr/>
        </p:nvSpPr>
        <p:spPr>
          <a:xfrm>
            <a:off x="6208700" y="3987998"/>
            <a:ext cx="27065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6" name="Shape 104"/>
          <p:cNvSpPr/>
          <p:nvPr/>
        </p:nvSpPr>
        <p:spPr>
          <a:xfrm>
            <a:off x="8911717" y="3984427"/>
            <a:ext cx="0" cy="72687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7" name="Shape 105"/>
          <p:cNvSpPr/>
          <p:nvPr/>
        </p:nvSpPr>
        <p:spPr>
          <a:xfrm>
            <a:off x="6208700" y="4711303"/>
            <a:ext cx="27065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8" name="Shape 106"/>
          <p:cNvSpPr/>
          <p:nvPr/>
        </p:nvSpPr>
        <p:spPr>
          <a:xfrm>
            <a:off x="6219416" y="3984427"/>
            <a:ext cx="0" cy="726876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9" name="Text 107"/>
          <p:cNvSpPr/>
          <p:nvPr/>
        </p:nvSpPr>
        <p:spPr>
          <a:xfrm>
            <a:off x="6344431" y="4091583"/>
            <a:ext cx="214313" cy="213265"/>
          </a:xfrm>
          <a:prstGeom prst="ellipse">
            <a:avLst/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6368720" y="4115872"/>
            <a:ext cx="165735" cy="164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11" name="Text 109"/>
          <p:cNvSpPr/>
          <p:nvPr/>
        </p:nvSpPr>
        <p:spPr>
          <a:xfrm>
            <a:off x="6644469" y="4091583"/>
            <a:ext cx="2149376" cy="118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REPRODUCIBILITY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6644469" y="4238030"/>
            <a:ext cx="2149376" cy="36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retraining run produces an identical artifact bundle — parameters, metrics, and model binary — enabling full audit and rollback.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4" name="Text 112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619" dirty="0"/>
          </a:p>
        </p:txBody>
      </p:sp>
      <p:sp>
        <p:nvSpPr>
          <p:cNvPr id="117" name="Text 11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/ 40</a:t>
            </a:r>
            <a:endParaRPr lang="en-US" sz="619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KS-TEST · 14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Drift Detection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Drift detection runs automatically — KS-test on every feature flags distribution shifts before they degrade predictions.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47279"/>
            <a:ext cx="5236927" cy="1734927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5769" y="1522288"/>
            <a:ext cx="44628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 STATISTIC PER FEATURE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12891" y="1549078"/>
            <a:ext cx="64294" cy="64294"/>
          </a:xfrm>
          <a:prstGeom prst="roundRect">
            <a:avLst>
              <a:gd name="adj" fmla="val 29630"/>
            </a:avLst>
          </a:prstGeom>
          <a:solidFill>
            <a:srgbClr val="DC2F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91472" y="1537326"/>
            <a:ext cx="3472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drift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10584" y="1549078"/>
            <a:ext cx="64294" cy="64294"/>
          </a:xfrm>
          <a:prstGeom prst="roundRect">
            <a:avLst>
              <a:gd name="adj" fmla="val 2963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94050" y="1527646"/>
            <a:ext cx="3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</a:t>
            </a:r>
            <a:endParaRPr lang="en-US" sz="800" dirty="0"/>
          </a:p>
        </p:txBody>
      </p:sp>
      <p:pic>
        <p:nvPicPr>
          <p:cNvPr id="13" name="Image 0" descr="/tmp/h2p-fit-1783722394266-1nvd3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1668735"/>
            <a:ext cx="5058333" cy="12713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5769" y="2997250"/>
            <a:ext cx="505833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features monitored. Red = drift detected (p&lt;0.05). Teal = stable.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6472" y="3275075"/>
            <a:ext cx="5236927" cy="1734927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35769" y="3350084"/>
            <a:ext cx="5058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VALUE SHIFT</a:t>
            </a:r>
            <a:endParaRPr lang="en-US" sz="800" dirty="0"/>
          </a:p>
        </p:txBody>
      </p:sp>
      <p:pic>
        <p:nvPicPr>
          <p:cNvPr id="17" name="Image 1" descr="/tmp/h2p-fit-1783722394229-fudk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9" y="3496531"/>
            <a:ext cx="5058333" cy="12713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5769" y="4748845"/>
            <a:ext cx="505833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4 drifted features: onpromotion, dcoilwtico, transactions, year.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701271" y="1443706"/>
            <a:ext cx="3214018" cy="731743"/>
          </a:xfrm>
          <a:prstGeom prst="roundRect">
            <a:avLst>
              <a:gd name="adj" fmla="val 16878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801283" y="1529432"/>
            <a:ext cx="214313" cy="214313"/>
          </a:xfrm>
          <a:prstGeom prst="ellipse">
            <a:avLst/>
          </a:prstGeom>
          <a:solidFill>
            <a:srgbClr val="FB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825572" y="155372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2F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2" name="Text 18"/>
          <p:cNvSpPr/>
          <p:nvPr/>
        </p:nvSpPr>
        <p:spPr>
          <a:xfrm>
            <a:off x="6101321" y="1529432"/>
            <a:ext cx="271395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DC2F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EXPECTED DRIFT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101321" y="1675879"/>
            <a:ext cx="2713955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prices dropped from $72 → $49 (macro shift). Promotion intensity increased 5× (business strategy change). Time naturally advances.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701271" y="2354043"/>
            <a:ext cx="3214018" cy="564356"/>
          </a:xfrm>
          <a:prstGeom prst="roundRect">
            <a:avLst>
              <a:gd name="adj" fmla="val 16878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801283" y="2439768"/>
            <a:ext cx="214313" cy="214313"/>
          </a:xfrm>
          <a:prstGeom prst="ellipse">
            <a:avLst/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825572" y="246405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6101321" y="2439768"/>
            <a:ext cx="271395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 FEATURES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101321" y="2586215"/>
            <a:ext cx="2713955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structure unchanged, holiday patterns consistent, geographic distribution stable.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701271" y="3095569"/>
            <a:ext cx="3214018" cy="1667396"/>
          </a:xfrm>
          <a:prstGeom prst="roundRect">
            <a:avLst>
              <a:gd name="adj" fmla="val 4197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815571" y="3195580"/>
            <a:ext cx="214313" cy="214313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839859" y="321986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6115608" y="3243801"/>
            <a:ext cx="26853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 THRESHOLDS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815571" y="3467043"/>
            <a:ext cx="29854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 &gt; 600 OR R² &lt; 0.65 → triggers retraining evaluation.</a:t>
            </a:r>
            <a:endParaRPr lang="en-US" sz="647" dirty="0"/>
          </a:p>
        </p:txBody>
      </p:sp>
      <p:sp>
        <p:nvSpPr>
          <p:cNvPr id="34" name="Shape 30"/>
          <p:cNvSpPr/>
          <p:nvPr/>
        </p:nvSpPr>
        <p:spPr>
          <a:xfrm>
            <a:off x="5815571" y="4308269"/>
            <a:ext cx="298541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Text 31"/>
          <p:cNvSpPr/>
          <p:nvPr/>
        </p:nvSpPr>
        <p:spPr>
          <a:xfrm>
            <a:off x="5815571" y="4387708"/>
            <a:ext cx="515020" cy="184023"/>
          </a:xfrm>
          <a:prstGeom prst="roundRect">
            <a:avLst>
              <a:gd name="adj" fmla="val 5170807"/>
            </a:avLst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795144" y="4397566"/>
            <a:ext cx="5558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2E8B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402028" y="4418105"/>
            <a:ext cx="239896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Current: RMSE 331.61 · R² 0.9407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Text 35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lang="en-US" sz="619" dirty="0"/>
          </a:p>
        </p:txBody>
      </p:sp>
      <p:sp>
        <p:nvSpPr>
          <p:cNvPr id="42" name="Text 38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/ 40</a:t>
            </a:r>
            <a:endParaRPr lang="en-US" sz="61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ROUTES · LAYER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Endpoints (FastAPI)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Developer-facing REST API — single, batch, range, and auto-fill prediction endpoints.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47279"/>
            <a:ext cx="4898603" cy="3264024"/>
          </a:xfrm>
          <a:prstGeom prst="roundRect">
            <a:avLst>
              <a:gd name="adj" fmla="val 2918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79438"/>
            <a:ext cx="4062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ENDPOINTS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18109" y="1540362"/>
            <a:ext cx="631954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9365" y="1550863"/>
            <a:ext cx="5894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ROUTES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783035"/>
          <a:ext cx="4662860" cy="1939769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Method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Path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Description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Root health check (status, model_loaded, version)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Health check for load balancers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/model/info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 metadata + expected features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Single forecast (store, family, date, optional features)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/predict/batch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Batch forecast up to 1,000 items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/predict/range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Predict for date range (e.g., next 30 days)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/predict/range/auto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Auto-fill store metadata from stores.csv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64344" y="3820790"/>
            <a:ext cx="466286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464344" y="3817218"/>
            <a:ext cx="4662860" cy="25436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Latency: </a:t>
            </a:r>
            <a:r>
              <a:rPr lang="en-US" sz="800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&lt;100ms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single prediction · JSON in/out · OpenAPI docs at </a:t>
            </a:r>
            <a:r>
              <a:rPr lang="en-US" sz="800" dirty="0">
                <a:solidFill>
                  <a:srgbClr val="0E8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62947" y="1443707"/>
            <a:ext cx="3552341" cy="3271168"/>
          </a:xfrm>
          <a:prstGeom prst="roundRect">
            <a:avLst>
              <a:gd name="adj" fmla="val 2912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77247" y="1543720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01536" y="156800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777285" y="1591940"/>
            <a:ext cx="3023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REQUEST &amp; RESPONSE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77247" y="1829470"/>
            <a:ext cx="3323741" cy="2610371"/>
          </a:xfrm>
          <a:prstGeom prst="roundRect">
            <a:avLst>
              <a:gd name="adj" fmla="val 3649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0B2545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20122" y="1972345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84156" y="2130177"/>
            <a:ext cx="696143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"store_nbr"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23769" y="2130177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16638" y="2130177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363072" y="2130177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12991" y="2288009"/>
            <a:ext cx="531209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"family"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84466" y="2288009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43893" y="2288009"/>
            <a:ext cx="705357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"GROCERY I"</a:t>
            </a:r>
            <a:endParaRPr lang="en-US" sz="731" dirty="0"/>
          </a:p>
        </p:txBody>
      </p:sp>
      <p:sp>
        <p:nvSpPr>
          <p:cNvPr id="11" name="Text 24"/>
          <p:cNvSpPr/>
          <p:nvPr/>
        </p:nvSpPr>
        <p:spPr>
          <a:xfrm>
            <a:off x="6688113" y="2288009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12991" y="2445841"/>
            <a:ext cx="398407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"date"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991597" y="2445841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46074" y="2445841"/>
            <a:ext cx="77330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"2017-08-15"</a:t>
            </a:r>
            <a:endParaRPr lang="en-US" sz="731" dirty="0"/>
          </a:p>
        </p:txBody>
      </p:sp>
      <p:sp>
        <p:nvSpPr>
          <p:cNvPr id="31" name="Text 28"/>
          <p:cNvSpPr/>
          <p:nvPr/>
        </p:nvSpPr>
        <p:spPr>
          <a:xfrm>
            <a:off x="6641678" y="2445841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12991" y="2603674"/>
            <a:ext cx="754559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"onpromotion"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316638" y="2603674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9506" y="2603674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55941" y="2603674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84156" y="2761506"/>
            <a:ext cx="696143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"oil_price"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223769" y="2761506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08959" y="2761506"/>
            <a:ext cx="386832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46.54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548810" y="2761506"/>
            <a:ext cx="91440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712991" y="2919338"/>
            <a:ext cx="812602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"transactions"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363072" y="2919338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438090" y="2919338"/>
            <a:ext cx="332882" cy="1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2100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620122" y="3077170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620122" y="3392835"/>
            <a:ext cx="928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759425" y="3392835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52294" y="3392835"/>
            <a:ext cx="98673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"predicted_sales"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641678" y="3392835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714314" y="3392835"/>
            <a:ext cx="461162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312.47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059588" y="3392835"/>
            <a:ext cx="9144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477247" y="4496991"/>
            <a:ext cx="332374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 /predict · single-store, single-family, single-date forecast.</a:t>
            </a:r>
            <a:endParaRPr lang="en-US" sz="619" dirty="0"/>
          </a:p>
        </p:txBody>
      </p:sp>
      <p:sp>
        <p:nvSpPr>
          <p:cNvPr id="51" name="Shape 48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2" name="Text 49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619" dirty="0"/>
          </a:p>
        </p:txBody>
      </p:sp>
      <p:sp>
        <p:nvSpPr>
          <p:cNvPr id="55" name="Text 5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/ 40</a:t>
            </a:r>
            <a:endParaRPr lang="en-US" sz="619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42900" y="57150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MODULES · LAYER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2900" y="732234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 Dashboard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42900" y="10579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193676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Business-user-facing dashboard — 7 interactive modules covering forecast, analysis, and monitoring.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472" y="1447279"/>
            <a:ext cx="5067709" cy="3264024"/>
          </a:xfrm>
          <a:prstGeom prst="roundRect">
            <a:avLst>
              <a:gd name="adj" fmla="val 2918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79438"/>
            <a:ext cx="41597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 DASHBOARD MODULES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15555" y="1540362"/>
            <a:ext cx="703615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5475" y="1550863"/>
            <a:ext cx="663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MODULES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7916" y="1800895"/>
            <a:ext cx="1546287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7213" y="1890192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5021" y="1896288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1525" y="1875904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6705" y="1891085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1055" dirty="0"/>
          </a:p>
        </p:txBody>
      </p:sp>
      <p:sp>
        <p:nvSpPr>
          <p:cNvPr id="16" name="Text 14"/>
          <p:cNvSpPr/>
          <p:nvPr/>
        </p:nvSpPr>
        <p:spPr>
          <a:xfrm>
            <a:off x="557213" y="2097360"/>
            <a:ext cx="136769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7213" y="2272382"/>
            <a:ext cx="1367693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KPIs and quick forecast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7071" y="1800895"/>
            <a:ext cx="1546399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96368" y="1890192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96368" y="1890192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0681" y="1875904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25861" y="1891085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055" dirty="0"/>
          </a:p>
        </p:txBody>
      </p:sp>
      <p:sp>
        <p:nvSpPr>
          <p:cNvPr id="23" name="Text 21"/>
          <p:cNvSpPr/>
          <p:nvPr/>
        </p:nvSpPr>
        <p:spPr>
          <a:xfrm>
            <a:off x="2196368" y="2097360"/>
            <a:ext cx="136780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CSV Prediction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6368" y="2272382"/>
            <a:ext cx="144987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CSV, download predictions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3746339" y="1800895"/>
            <a:ext cx="1546399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35636" y="1890192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35636" y="1890192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49948" y="1875904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65129" y="1891085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055" dirty="0"/>
          </a:p>
        </p:txBody>
      </p:sp>
      <p:sp>
        <p:nvSpPr>
          <p:cNvPr id="30" name="Text 28"/>
          <p:cNvSpPr/>
          <p:nvPr/>
        </p:nvSpPr>
        <p:spPr>
          <a:xfrm>
            <a:off x="3835636" y="2097360"/>
            <a:ext cx="136780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Prediction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35636" y="2272382"/>
            <a:ext cx="1367805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auto-filled store info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7916" y="2883173"/>
            <a:ext cx="1546287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7213" y="2972470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8925" y="297856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1525" y="2958182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6705" y="2973363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055" dirty="0"/>
          </a:p>
        </p:txBody>
      </p:sp>
      <p:sp>
        <p:nvSpPr>
          <p:cNvPr id="37" name="Text 35"/>
          <p:cNvSpPr/>
          <p:nvPr/>
        </p:nvSpPr>
        <p:spPr>
          <a:xfrm>
            <a:off x="557213" y="3179638"/>
            <a:ext cx="136769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 Analysis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213" y="3354660"/>
            <a:ext cx="1367693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charts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07071" y="2883173"/>
            <a:ext cx="1546399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196368" y="2972470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96368" y="2972470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10681" y="2958182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425861" y="2973363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055" dirty="0"/>
          </a:p>
        </p:txBody>
      </p:sp>
      <p:sp>
        <p:nvSpPr>
          <p:cNvPr id="44" name="Text 42"/>
          <p:cNvSpPr/>
          <p:nvPr/>
        </p:nvSpPr>
        <p:spPr>
          <a:xfrm>
            <a:off x="2196368" y="3179638"/>
            <a:ext cx="136780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Analytics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96368" y="3354660"/>
            <a:ext cx="1367805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dashboards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6339" y="2883173"/>
            <a:ext cx="1546399" cy="989409"/>
          </a:xfrm>
          <a:prstGeom prst="roundRect">
            <a:avLst>
              <a:gd name="adj" fmla="val 770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835636" y="2972470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835636" y="2972470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049948" y="2958182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065129" y="2973363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055" dirty="0"/>
          </a:p>
        </p:txBody>
      </p:sp>
      <p:sp>
        <p:nvSpPr>
          <p:cNvPr id="51" name="Text 49"/>
          <p:cNvSpPr/>
          <p:nvPr/>
        </p:nvSpPr>
        <p:spPr>
          <a:xfrm>
            <a:off x="3835636" y="3179638"/>
            <a:ext cx="136780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Comparison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835636" y="3354660"/>
            <a:ext cx="1367805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side-by-side metrics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7916" y="3965451"/>
            <a:ext cx="4824822" cy="638696"/>
          </a:xfrm>
          <a:prstGeom prst="roundRect">
            <a:avLst>
              <a:gd name="adj" fmla="val 1193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71500" y="4206218"/>
            <a:ext cx="157163" cy="1571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71500" y="4206218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5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00100" y="4191930"/>
            <a:ext cx="185738" cy="185738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15280" y="4207111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055" dirty="0"/>
          </a:p>
        </p:txBody>
      </p:sp>
      <p:sp>
        <p:nvSpPr>
          <p:cNvPr id="58" name="Text 56"/>
          <p:cNvSpPr/>
          <p:nvPr/>
        </p:nvSpPr>
        <p:spPr>
          <a:xfrm>
            <a:off x="1085850" y="4160118"/>
            <a:ext cx="35640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API Monitoring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85850" y="4299421"/>
            <a:ext cx="356400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drift + health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80148" y="4192787"/>
            <a:ext cx="609005" cy="184023"/>
          </a:xfrm>
          <a:prstGeom prst="roundRect">
            <a:avLst>
              <a:gd name="adj" fmla="val 25880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542574" y="4202646"/>
            <a:ext cx="6841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535625" y="1447279"/>
            <a:ext cx="3376092" cy="1510903"/>
          </a:xfrm>
          <a:prstGeom prst="roundRect">
            <a:avLst>
              <a:gd name="adj" fmla="val 3649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653497" y="1550863"/>
            <a:ext cx="31403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619966" y="1746866"/>
            <a:ext cx="3140348" cy="424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Three-layer deployment — Model, FastAPI, Streamlit dashboard. Each layer serves a different user type — developers use the API, business users use the dashboard.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503478" y="3414043"/>
            <a:ext cx="3383235" cy="567928"/>
          </a:xfrm>
          <a:prstGeom prst="roundRect">
            <a:avLst>
              <a:gd name="adj" fmla="val 16771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65"/>
          <p:cNvSpPr/>
          <p:nvPr/>
        </p:nvSpPr>
        <p:spPr>
          <a:xfrm>
            <a:off x="5503478" y="3417615"/>
            <a:ext cx="3383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9" name="Shape 66"/>
          <p:cNvSpPr/>
          <p:nvPr/>
        </p:nvSpPr>
        <p:spPr>
          <a:xfrm>
            <a:off x="8883142" y="3414043"/>
            <a:ext cx="0" cy="56792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0" name="Shape 67"/>
          <p:cNvSpPr/>
          <p:nvPr/>
        </p:nvSpPr>
        <p:spPr>
          <a:xfrm>
            <a:off x="5503478" y="3978399"/>
            <a:ext cx="3383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1" name="Shape 68"/>
          <p:cNvSpPr/>
          <p:nvPr/>
        </p:nvSpPr>
        <p:spPr>
          <a:xfrm>
            <a:off x="5514194" y="3414043"/>
            <a:ext cx="0" cy="567928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2" name="Text 69"/>
          <p:cNvSpPr/>
          <p:nvPr/>
        </p:nvSpPr>
        <p:spPr>
          <a:xfrm>
            <a:off x="5624922" y="3506912"/>
            <a:ext cx="214313" cy="214313"/>
          </a:xfrm>
          <a:prstGeom prst="ellipse">
            <a:avLst/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5649211" y="353120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8A8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4" name="Text 71"/>
          <p:cNvSpPr/>
          <p:nvPr/>
        </p:nvSpPr>
        <p:spPr>
          <a:xfrm>
            <a:off x="5924959" y="3506912"/>
            <a:ext cx="285459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MODULE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5924959" y="3653359"/>
            <a:ext cx="285459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</a:t>
            </a: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feature_engineering.py</a:t>
            </a: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module ensures API and dashboard produce identical predictions to the training notebook.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7" name="Text 7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342900" y="123230"/>
            <a:ext cx="8357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689072" y="12323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</a:t>
            </a:r>
            <a:endParaRPr lang="en-US" sz="619" dirty="0"/>
          </a:p>
        </p:txBody>
      </p:sp>
      <p:sp>
        <p:nvSpPr>
          <p:cNvPr id="80" name="Text 7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Demand Prediction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/ 40</a:t>
            </a:r>
            <a:endParaRPr lang="en-US" sz="61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TRIGGERS · VERSION-GATED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 Strategy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retraining with three triggers — scheduled, performance-driven, and manual — with version-gated deployment.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8451056" cy="1678000"/>
          </a:xfrm>
          <a:prstGeom prst="roundRect">
            <a:avLst>
              <a:gd name="adj" fmla="val 5676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422276"/>
            <a:ext cx="67142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 HISTORY TIMELINE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92863" y="1393701"/>
            <a:ext cx="1486793" cy="175022"/>
          </a:xfrm>
          <a:prstGeom prst="roundRect">
            <a:avLst>
              <a:gd name="adj" fmla="val 5436731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92863" y="1393701"/>
            <a:ext cx="1486793" cy="2443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EVALUATIONS · 1 DEPLOYED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467916" y="1615157"/>
            <a:ext cx="8208169" cy="1121569"/>
          </a:xfrm>
          <a:prstGeom prst="roundRect">
            <a:avLst>
              <a:gd name="adj" fmla="val 84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/tmp/h2p-fit-1783722395233-abwg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61592"/>
            <a:ext cx="8115300" cy="1028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4344" y="2783160"/>
            <a:ext cx="821531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 1 deployed 2026-07-06. Version 2 evaluated but kept current (0.00% degradation).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6472" y="3075273"/>
            <a:ext cx="5165489" cy="1678893"/>
          </a:xfrm>
          <a:prstGeom prst="roundRect">
            <a:avLst>
              <a:gd name="adj" fmla="val 567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8631" y="3178857"/>
            <a:ext cx="5010899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RETRAINING TRIGGERS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8631" y="3353879"/>
            <a:ext cx="228600" cy="22860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8631" y="3353879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2956" y="3353879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17959" y="337888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1135856" y="3371738"/>
            <a:ext cx="896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804355" y="3343378"/>
            <a:ext cx="828898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58637" y="3353879"/>
            <a:ext cx="9203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EVERY 90 DAYS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35856" y="3543188"/>
            <a:ext cx="4243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90 days regardless of performance. Captures seasonal drift and slow-moving trend changes.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78631" y="3728926"/>
            <a:ext cx="228600" cy="22860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8631" y="3728926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92956" y="3728926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17959" y="37539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9" name="Text 26"/>
          <p:cNvSpPr/>
          <p:nvPr/>
        </p:nvSpPr>
        <p:spPr>
          <a:xfrm>
            <a:off x="1135856" y="3746785"/>
            <a:ext cx="19596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DEGRADATION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716188" y="3718425"/>
            <a:ext cx="1117885" cy="196025"/>
          </a:xfrm>
          <a:prstGeom prst="roundRect">
            <a:avLst>
              <a:gd name="adj" fmla="val 4854215"/>
            </a:avLst>
          </a:prstGeom>
          <a:solidFill>
            <a:srgbClr val="FB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716188" y="3728926"/>
            <a:ext cx="11178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DC2F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RMSE +10% / R² &lt; 0.65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5856" y="3918235"/>
            <a:ext cx="4243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Triggered when RMSE increases by &gt;10% from baseline OR R² drops below 0.65. Catches acute drift events.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78631" y="4103973"/>
            <a:ext cx="228600" cy="22860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8631" y="410397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92956" y="4103973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17959" y="412897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1135856" y="4121832"/>
            <a:ext cx="6228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617725" y="4093471"/>
            <a:ext cx="896987" cy="196025"/>
          </a:xfrm>
          <a:prstGeom prst="roundRect">
            <a:avLst>
              <a:gd name="adj" fmla="val 4854215"/>
            </a:avLst>
          </a:prstGeom>
          <a:solidFill>
            <a:srgbClr val="FBF3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585670" y="4103973"/>
            <a:ext cx="9610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C69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REGIME CHANGE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35856" y="4293282"/>
            <a:ext cx="4243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or data team initiates retrain. Useful for known data regime changes (e.g., new product family launch).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5633405" y="3075273"/>
            <a:ext cx="3164123" cy="1678893"/>
          </a:xfrm>
          <a:prstGeom prst="roundRect">
            <a:avLst>
              <a:gd name="adj" fmla="val 567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751277" y="31788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3" name="Text 40"/>
          <p:cNvSpPr/>
          <p:nvPr/>
        </p:nvSpPr>
        <p:spPr>
          <a:xfrm>
            <a:off x="5937014" y="3184215"/>
            <a:ext cx="27426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GATE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754849" y="3368167"/>
            <a:ext cx="2921236" cy="710915"/>
          </a:xfrm>
          <a:prstGeom prst="roundRect">
            <a:avLst>
              <a:gd name="adj" fmla="val 133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1" descr="/tmp/h2p-fit-1783722395245-tzzd5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283" y="3414601"/>
            <a:ext cx="2828367" cy="618046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751277" y="4154091"/>
            <a:ext cx="2928379" cy="496491"/>
          </a:xfrm>
          <a:prstGeom prst="roundRect">
            <a:avLst>
              <a:gd name="adj" fmla="val 19185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837002" y="4225528"/>
            <a:ext cx="2756929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new model is only deployed if it beats the current model on test RMSE. Otherwise the current version is kept — preventing regression from noisy retraining.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342900" y="123230"/>
            <a:ext cx="7622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979904" y="123230"/>
            <a:ext cx="8211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Retraining strategy</a:t>
            </a:r>
            <a:endParaRPr lang="en-US" sz="619" dirty="0"/>
          </a:p>
        </p:txBody>
      </p:sp>
      <p:sp>
        <p:nvSpPr>
          <p:cNvPr id="51" name="Text 4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/ 40</a:t>
            </a:r>
            <a:endParaRPr lang="en-US" sz="619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PRODUCTION STATE · 2026-07-06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 Configuration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complete retraining_config.json — one clean block, replacing fragmented text boxes from the original deck.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130261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1300832"/>
            <a:ext cx="52521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RETRAINING_CONFIG.JSON · PRODUCTION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2900" y="1461567"/>
            <a:ext cx="5423557" cy="3310458"/>
          </a:xfrm>
          <a:prstGeom prst="roundRect">
            <a:avLst>
              <a:gd name="adj" fmla="val 2877"/>
            </a:avLst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1488" y="156157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0069" y="1673089"/>
            <a:ext cx="78581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"last_retrained"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1178719" y="1673089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57300" y="1673089"/>
            <a:ext cx="103137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C3E88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"2026-07-06T18:23:14"</a:t>
            </a:r>
            <a:endParaRPr lang="en-US" sz="619" dirty="0"/>
          </a:p>
        </p:txBody>
      </p:sp>
      <p:sp>
        <p:nvSpPr>
          <p:cNvPr id="15" name="Text 13"/>
          <p:cNvSpPr/>
          <p:nvPr/>
        </p:nvSpPr>
        <p:spPr>
          <a:xfrm>
            <a:off x="2082403" y="167308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0069" y="1784598"/>
            <a:ext cx="54024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"last_rmse"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982266" y="1784598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0847" y="1784598"/>
            <a:ext cx="474631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331.6103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1375172" y="178459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0069" y="1896108"/>
            <a:ext cx="50567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"last_r2"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903684" y="1896108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1912" y="1896108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1218009" y="189610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0069" y="2007617"/>
            <a:ext cx="8840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"retraining_count"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1257300" y="2007617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35881" y="2007617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5172" y="200761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0069" y="2119126"/>
            <a:ext cx="98226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"retraining_history"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1335881" y="2119126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4463" y="211912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8650" y="22306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4897" y="2342145"/>
            <a:ext cx="54491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"timestamp"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1139428" y="2342145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18009" y="2342145"/>
            <a:ext cx="8840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C3E88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"2026-07-06 18:23"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1925241" y="234214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7231" y="2453655"/>
            <a:ext cx="68758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"cv_rmse_mean"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1257300" y="2453655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335528" y="2453655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475.12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1571625" y="245365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7231" y="2565164"/>
            <a:ext cx="54024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"test_rmse"</a:t>
            </a:r>
            <a:endParaRPr lang="en-US" sz="619" dirty="0"/>
          </a:p>
        </p:txBody>
      </p:sp>
      <p:sp>
        <p:nvSpPr>
          <p:cNvPr id="41" name="Text 39"/>
          <p:cNvSpPr/>
          <p:nvPr/>
        </p:nvSpPr>
        <p:spPr>
          <a:xfrm>
            <a:off x="1139428" y="2565164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217656" y="2565164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1453753" y="25651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7231" y="2676674"/>
            <a:ext cx="50567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"test_r2"</a:t>
            </a:r>
            <a:endParaRPr lang="en-US" sz="619" dirty="0"/>
          </a:p>
        </p:txBody>
      </p:sp>
      <p:sp>
        <p:nvSpPr>
          <p:cNvPr id="45" name="Text 43"/>
          <p:cNvSpPr/>
          <p:nvPr/>
        </p:nvSpPr>
        <p:spPr>
          <a:xfrm>
            <a:off x="1060847" y="2676674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39075" y="2676674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1375172" y="267667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4449" y="2788183"/>
            <a:ext cx="49669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"deployed"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1100138" y="2788183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61985" y="2788183"/>
            <a:ext cx="28492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335881" y="27881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7231" y="2899693"/>
            <a:ext cx="44948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"reason"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1021556" y="2899693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00138" y="2899693"/>
            <a:ext cx="88403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 deployment"</a:t>
            </a:r>
            <a:endParaRPr lang="en-US" sz="619" dirty="0"/>
          </a:p>
        </p:txBody>
      </p:sp>
      <p:sp>
        <p:nvSpPr>
          <p:cNvPr id="55" name="Text 53"/>
          <p:cNvSpPr/>
          <p:nvPr/>
        </p:nvSpPr>
        <p:spPr>
          <a:xfrm>
            <a:off x="619785" y="3011202"/>
            <a:ext cx="14345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8650" y="31227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897" y="3234221"/>
            <a:ext cx="54491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"timestamp"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1139428" y="3234221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36297" y="3252509"/>
            <a:ext cx="8840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C3E88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"2026-07-06 18:29"</a:t>
            </a:r>
            <a:endParaRPr lang="en-US" sz="619" dirty="0"/>
          </a:p>
        </p:txBody>
      </p:sp>
      <p:sp>
        <p:nvSpPr>
          <p:cNvPr id="60" name="Text 58"/>
          <p:cNvSpPr/>
          <p:nvPr/>
        </p:nvSpPr>
        <p:spPr>
          <a:xfrm>
            <a:off x="1925241" y="323422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7231" y="3345731"/>
            <a:ext cx="54024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"test_rmse"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1139428" y="3345731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217656" y="3345731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619" dirty="0"/>
          </a:p>
        </p:txBody>
      </p:sp>
      <p:sp>
        <p:nvSpPr>
          <p:cNvPr id="64" name="Text 62"/>
          <p:cNvSpPr/>
          <p:nvPr/>
        </p:nvSpPr>
        <p:spPr>
          <a:xfrm>
            <a:off x="1453753" y="33457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04449" y="3457240"/>
            <a:ext cx="49669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"deployed"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1100138" y="3457240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62247" y="3457240"/>
            <a:ext cx="34726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375172" y="34572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07231" y="3568750"/>
            <a:ext cx="44948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"reason"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1021556" y="3568750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100138" y="3568750"/>
            <a:ext cx="12305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C3E88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"0.00% degradation — kept v1"</a:t>
            </a:r>
            <a:endParaRPr lang="en-US" sz="619" dirty="0"/>
          </a:p>
        </p:txBody>
      </p:sp>
      <p:sp>
        <p:nvSpPr>
          <p:cNvPr id="72" name="Text 70"/>
          <p:cNvSpPr/>
          <p:nvPr/>
        </p:nvSpPr>
        <p:spPr>
          <a:xfrm>
            <a:off x="628650" y="368025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1204" y="3791769"/>
            <a:ext cx="14345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50069" y="3903278"/>
            <a:ext cx="78581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"model_versions"</a:t>
            </a:r>
            <a:endParaRPr lang="en-US" sz="619" dirty="0"/>
          </a:p>
        </p:txBody>
      </p:sp>
      <p:sp>
        <p:nvSpPr>
          <p:cNvPr id="75" name="Text 73"/>
          <p:cNvSpPr/>
          <p:nvPr/>
        </p:nvSpPr>
        <p:spPr>
          <a:xfrm>
            <a:off x="1178719" y="3903278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257300" y="390327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8650" y="40147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07231" y="4126297"/>
            <a:ext cx="50567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endParaRPr lang="en-US" sz="619" dirty="0"/>
          </a:p>
        </p:txBody>
      </p:sp>
      <p:sp>
        <p:nvSpPr>
          <p:cNvPr id="79" name="Text 77"/>
          <p:cNvSpPr/>
          <p:nvPr/>
        </p:nvSpPr>
        <p:spPr>
          <a:xfrm>
            <a:off x="1060847" y="4126297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139428" y="4126297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178719" y="41262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07231" y="4237806"/>
            <a:ext cx="33711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"rmse"</a:t>
            </a:r>
            <a:endParaRPr lang="en-US" sz="619" dirty="0"/>
          </a:p>
        </p:txBody>
      </p:sp>
      <p:sp>
        <p:nvSpPr>
          <p:cNvPr id="83" name="Text 81"/>
          <p:cNvSpPr/>
          <p:nvPr/>
        </p:nvSpPr>
        <p:spPr>
          <a:xfrm>
            <a:off x="942975" y="4237806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21203" y="4237806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619" dirty="0"/>
          </a:p>
        </p:txBody>
      </p:sp>
      <p:sp>
        <p:nvSpPr>
          <p:cNvPr id="85" name="Text 83"/>
          <p:cNvSpPr/>
          <p:nvPr/>
        </p:nvSpPr>
        <p:spPr>
          <a:xfrm>
            <a:off x="1257300" y="42378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92895" y="4349316"/>
            <a:ext cx="28013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"r2"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64394" y="4349316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42621" y="4349316"/>
            <a:ext cx="35668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619" dirty="0"/>
          </a:p>
        </p:txBody>
      </p:sp>
      <p:sp>
        <p:nvSpPr>
          <p:cNvPr id="89" name="Text 87"/>
          <p:cNvSpPr/>
          <p:nvPr/>
        </p:nvSpPr>
        <p:spPr>
          <a:xfrm>
            <a:off x="1178719" y="434931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07231" y="4460825"/>
            <a:ext cx="884039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"training_samples"</a:t>
            </a:r>
            <a:endParaRPr lang="en-US" sz="619" dirty="0"/>
          </a:p>
        </p:txBody>
      </p:sp>
      <p:sp>
        <p:nvSpPr>
          <p:cNvPr id="91" name="Text 89"/>
          <p:cNvSpPr/>
          <p:nvPr/>
        </p:nvSpPr>
        <p:spPr>
          <a:xfrm>
            <a:off x="1414463" y="4460825"/>
            <a:ext cx="91440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85728" y="4460825"/>
            <a:ext cx="42993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619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2400710</a:t>
            </a:r>
            <a:endParaRPr lang="en-US" sz="619" dirty="0"/>
          </a:p>
        </p:txBody>
      </p:sp>
      <p:sp>
        <p:nvSpPr>
          <p:cNvPr id="93" name="Text 91"/>
          <p:cNvSpPr/>
          <p:nvPr/>
        </p:nvSpPr>
        <p:spPr>
          <a:xfrm>
            <a:off x="628650" y="457233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50069" y="468384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471488" y="47953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880757" y="1300832"/>
            <a:ext cx="2920343" cy="1146572"/>
          </a:xfrm>
          <a:prstGeom prst="roundRect">
            <a:avLst>
              <a:gd name="adj" fmla="val 8307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980770" y="1386557"/>
            <a:ext cx="272031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 ANATOMY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980770" y="1561579"/>
            <a:ext cx="157163" cy="15716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5980770" y="1561579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195082" y="1561579"/>
            <a:ext cx="250600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last_retrained</a:t>
            </a: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ISO timestamp of last training</a:t>
            </a:r>
            <a:endParaRPr lang="en-US" sz="619" dirty="0"/>
          </a:p>
        </p:txBody>
      </p:sp>
      <p:sp>
        <p:nvSpPr>
          <p:cNvPr id="101" name="Text 99"/>
          <p:cNvSpPr/>
          <p:nvPr/>
        </p:nvSpPr>
        <p:spPr>
          <a:xfrm>
            <a:off x="5980770" y="1775892"/>
            <a:ext cx="157163" cy="15716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5980770" y="1775892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195082" y="1775892"/>
            <a:ext cx="250600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last_rmse / last_r2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current model metrics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980770" y="1990204"/>
            <a:ext cx="157163" cy="15716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5980770" y="1990204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6195082" y="1990204"/>
            <a:ext cx="250600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retraining_history</a:t>
            </a: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full audit trail of evaluations</a:t>
            </a:r>
            <a:endParaRPr lang="en-US" sz="619" dirty="0"/>
          </a:p>
        </p:txBody>
      </p:sp>
      <p:sp>
        <p:nvSpPr>
          <p:cNvPr id="107" name="Text 105"/>
          <p:cNvSpPr/>
          <p:nvPr/>
        </p:nvSpPr>
        <p:spPr>
          <a:xfrm>
            <a:off x="5980770" y="2204517"/>
            <a:ext cx="157163" cy="15716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5980770" y="2204517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195082" y="2204517"/>
            <a:ext cx="250600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model_versions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versioned model registry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880757" y="2518842"/>
            <a:ext cx="2920343" cy="903684"/>
          </a:xfrm>
          <a:prstGeom prst="roundRect">
            <a:avLst>
              <a:gd name="adj" fmla="val 10540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5980770" y="26045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12" name="Text 110"/>
          <p:cNvSpPr/>
          <p:nvPr/>
        </p:nvSpPr>
        <p:spPr>
          <a:xfrm>
            <a:off x="6166507" y="2609924"/>
            <a:ext cx="2534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GATE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980770" y="2776017"/>
            <a:ext cx="2720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new model is only deployed if it beats the current model on test RMSE. Otherwise the current version is kept.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980770" y="3083198"/>
            <a:ext cx="2720318" cy="7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5980770" y="3151278"/>
            <a:ext cx="762260" cy="196025"/>
          </a:xfrm>
          <a:prstGeom prst="roundRect">
            <a:avLst>
              <a:gd name="adj" fmla="val 4854215"/>
            </a:avLst>
          </a:prstGeom>
          <a:solidFill>
            <a:srgbClr val="2E8B57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5955683" y="3161779"/>
            <a:ext cx="8124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7FD4A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 DEPLOYED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6800180" y="3190354"/>
            <a:ext cx="193821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331.61 · R² 0.9407 · 2.4M training samples</a:t>
            </a:r>
            <a:endParaRPr lang="en-US" sz="619" dirty="0"/>
          </a:p>
        </p:txBody>
      </p:sp>
      <p:sp>
        <p:nvSpPr>
          <p:cNvPr id="118" name="Text 116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342900" y="123230"/>
            <a:ext cx="74066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MLOPS &amp; DEPLOYMENT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763805" y="123230"/>
            <a:ext cx="10995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Retraining configuration</a:t>
            </a:r>
            <a:endParaRPr lang="en-US" sz="619" dirty="0"/>
          </a:p>
        </p:txBody>
      </p:sp>
      <p:sp>
        <p:nvSpPr>
          <p:cNvPr id="121" name="Text 119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 / 40</a:t>
            </a:r>
            <a:endParaRPr lang="en-US" sz="61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2077" y="428625"/>
            <a:ext cx="259061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EEF2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400050" y="4682728"/>
            <a:ext cx="116603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07 OF 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21431" cy="5143500"/>
          </a:xfrm>
          <a:prstGeom prst="rect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72100" y="1273373"/>
            <a:ext cx="3429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111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PILLARS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72100" y="1691283"/>
            <a:ext cx="342900" cy="342900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19249" y="173843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5829300" y="1718072"/>
            <a:ext cx="29718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29300" y="1889522"/>
            <a:ext cx="2971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OPERATIONAL AREAS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72100" y="2162770"/>
            <a:ext cx="3429000" cy="7144"/>
          </a:xfrm>
          <a:prstGeom prst="rect">
            <a:avLst/>
          </a:prstGeom>
          <a:solidFill>
            <a:srgbClr val="13B5B1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72100" y="2298502"/>
            <a:ext cx="342900" cy="342900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19249" y="234565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5829300" y="2325291"/>
            <a:ext cx="29718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29300" y="2496741"/>
            <a:ext cx="2971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HONEST LIMITATIONS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72100" y="2769989"/>
            <a:ext cx="3429000" cy="7144"/>
          </a:xfrm>
          <a:prstGeom prst="rect">
            <a:avLst/>
          </a:prstGeom>
          <a:solidFill>
            <a:srgbClr val="13B5B1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72100" y="2905720"/>
            <a:ext cx="342900" cy="342900"/>
          </a:xfrm>
          <a:prstGeom prst="ellipse">
            <a:avLst/>
          </a:prstGeom>
          <a:solidFill>
            <a:srgbClr val="13B5B1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9249" y="295286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5829300" y="2932509"/>
            <a:ext cx="29718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ROADMAP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29300" y="3103959"/>
            <a:ext cx="2971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NEAR-TERM + LONG-TERM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72100" y="3609380"/>
            <a:ext cx="3429000" cy="0"/>
          </a:xfrm>
          <a:prstGeom prst="line">
            <a:avLst/>
          </a:prstGeom>
          <a:noFill/>
          <a:ln w="7144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5372100" y="3605808"/>
            <a:ext cx="3429000" cy="338328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TRANSLATING TECHNICAL RESULTS INTO VALUE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050" y="1622078"/>
            <a:ext cx="4229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111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SEVEN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0050" y="1839962"/>
            <a:ext cx="3900488" cy="77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kern="0" spc="-5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 &amp; Future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400050" y="2659931"/>
            <a:ext cx="3429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Translating technical results into operational value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0050" y="2988543"/>
            <a:ext cx="5715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0050" y="318142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628650" y="3167137"/>
            <a:ext cx="3343275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i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goal was never just to build a model — it was to create operational value for retail decision-makers.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OPERATIONAL AREAS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Value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operational areas directly served — each with quantified business impact estimates.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3162226" cy="2853258"/>
          </a:xfrm>
          <a:prstGeom prst="roundRect">
            <a:avLst>
              <a:gd name="adj" fmla="val 3338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056" y="1422276"/>
            <a:ext cx="22720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RADAR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13531" y="1383200"/>
            <a:ext cx="714442" cy="196025"/>
          </a:xfrm>
          <a:prstGeom prst="roundRect">
            <a:avLst>
              <a:gd name="adj" fmla="val 485421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1891" y="1393701"/>
            <a:ext cx="7177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0–30 SCALE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3628" y="1615157"/>
            <a:ext cx="2947913" cy="2296827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/tmp/h2p-fit-1783722397173-6g1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1661592"/>
            <a:ext cx="2855044" cy="22039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0056" y="3958419"/>
            <a:ext cx="295505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Relative impact score by area (0–30 scale). Stockout reduction leads at 28.</a:t>
            </a:r>
            <a:endParaRPr lang="en-US" sz="619" dirty="0"/>
          </a:p>
        </p:txBody>
      </p:sp>
      <p:sp>
        <p:nvSpPr>
          <p:cNvPr id="15" name="Text 12"/>
          <p:cNvSpPr/>
          <p:nvPr/>
        </p:nvSpPr>
        <p:spPr>
          <a:xfrm>
            <a:off x="342900" y="4232672"/>
            <a:ext cx="3169369" cy="539353"/>
          </a:xfrm>
          <a:prstGeom prst="roundRect">
            <a:avLst>
              <a:gd name="adj" fmla="val 17660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42900" y="4236244"/>
            <a:ext cx="31693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4"/>
          <p:cNvSpPr/>
          <p:nvPr/>
        </p:nvSpPr>
        <p:spPr>
          <a:xfrm>
            <a:off x="3508697" y="4232672"/>
            <a:ext cx="0" cy="53935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5"/>
          <p:cNvSpPr/>
          <p:nvPr/>
        </p:nvSpPr>
        <p:spPr>
          <a:xfrm>
            <a:off x="342900" y="4768453"/>
            <a:ext cx="31693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6"/>
          <p:cNvSpPr/>
          <p:nvPr/>
        </p:nvSpPr>
        <p:spPr>
          <a:xfrm>
            <a:off x="353616" y="4232672"/>
            <a:ext cx="0" cy="539353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464344" y="43326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650081" y="4325541"/>
            <a:ext cx="2755032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not just a prediction model — it is a decision support system that transforms how retail operations plan inventory, schedule staff, time promotions, and manage supply chains.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30141" y="1304404"/>
            <a:ext cx="5167387" cy="3464049"/>
          </a:xfrm>
          <a:prstGeom prst="roundRect">
            <a:avLst>
              <a:gd name="adj" fmla="val 2750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748013" y="1407988"/>
            <a:ext cx="493164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IMPACT AREAS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51585" y="1600870"/>
            <a:ext cx="4924499" cy="487784"/>
          </a:xfrm>
          <a:prstGeom prst="roundRect">
            <a:avLst>
              <a:gd name="adj" fmla="val 1562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826594" y="1730462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847668" y="17515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4140919" y="1661592"/>
            <a:ext cx="446015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PLANNING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140919" y="1808038"/>
            <a:ext cx="391432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Accurate demand signals enable optimal stock levels per store-product combination. Reduce capital tied up in excess inventory while maintaining service levels.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10021" y="1891196"/>
            <a:ext cx="594040" cy="1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OVERSTOCK ↓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751585" y="2152948"/>
            <a:ext cx="4924499" cy="487784"/>
          </a:xfrm>
          <a:prstGeom prst="roundRect">
            <a:avLst>
              <a:gd name="adj" fmla="val 1562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826594" y="2282540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847668" y="230361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4140919" y="2213670"/>
            <a:ext cx="446015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STOCKOUT REDUCTION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40919" y="2360116"/>
            <a:ext cx="3795787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 high-demand periods (holidays + promotions) to pre-position inventory. Estimated 25–30% reduction in lost sales from stockouts.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861496" y="2443274"/>
            <a:ext cx="739579" cy="1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FEWER STOCKOUTS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3751585" y="2705026"/>
            <a:ext cx="4924499" cy="487784"/>
          </a:xfrm>
          <a:prstGeom prst="roundRect">
            <a:avLst>
              <a:gd name="adj" fmla="val 1562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826594" y="2834618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847668" y="2855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4140919" y="2765747"/>
            <a:ext cx="446015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STAFFING OPTIMIZATION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140919" y="2912194"/>
            <a:ext cx="395294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 workforce scheduling to predicted daily demand patterns. Reduce overtime costs while ensuring adequate coverage during peak periods.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62369" y="2995352"/>
            <a:ext cx="538706" cy="1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 ↓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751585" y="3257104"/>
            <a:ext cx="4924499" cy="487784"/>
          </a:xfrm>
          <a:prstGeom prst="roundRect">
            <a:avLst>
              <a:gd name="adj" fmla="val 1562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826594" y="3386696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847668" y="340777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45" name="Text 42"/>
          <p:cNvSpPr/>
          <p:nvPr/>
        </p:nvSpPr>
        <p:spPr>
          <a:xfrm>
            <a:off x="4140919" y="3317825"/>
            <a:ext cx="446015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MARKETING TIMING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140919" y="3464272"/>
            <a:ext cx="4027177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optimal promotion windows based on predicted baseline + uplift. Time campaigns around holidays for 40–60% multiplicative effect.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094736" y="3547430"/>
            <a:ext cx="506339" cy="1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 ROI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751585" y="3809181"/>
            <a:ext cx="4924499" cy="487784"/>
          </a:xfrm>
          <a:prstGeom prst="roundRect">
            <a:avLst>
              <a:gd name="adj" fmla="val 1562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826594" y="3938774"/>
            <a:ext cx="228600" cy="22860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847668" y="395984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51" name="Text 48"/>
          <p:cNvSpPr/>
          <p:nvPr/>
        </p:nvSpPr>
        <p:spPr>
          <a:xfrm>
            <a:off x="4140919" y="3869903"/>
            <a:ext cx="423591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VISIBILITY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140919" y="4016350"/>
            <a:ext cx="375716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30-day forward forecasts enable better supplier negotiation, logistics planning, and warehouse capacity management. End-to-end demand visibility from forecast to procurement.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812134" y="4099508"/>
            <a:ext cx="788941" cy="1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FORECAST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342900" y="123230"/>
            <a:ext cx="7709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066298" y="123230"/>
            <a:ext cx="7348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value</a:t>
            </a:r>
            <a:endParaRPr lang="en-US" sz="619" dirty="0"/>
          </a:p>
        </p:txBody>
      </p:sp>
      <p:sp>
        <p:nvSpPr>
          <p:cNvPr id="57" name="Text 5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 / 40</a:t>
            </a:r>
            <a:endParaRPr lang="en-US" sz="619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HONEST LIMITATIONS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 &amp; Limitations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honest limitations — every real-world ML system has constraints. The key is understanding them and planning mitigations.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056" y="1407988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056" y="1407988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8656" y="1393701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5801" y="141084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35831" y="1424062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RECENCY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0056" y="1636588"/>
            <a:ext cx="2557463" cy="42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data ends August 2017. Model needs retraining on recent data for production use. Economic conditions and consumer behavior may have shifted.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0056" y="2035299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0056" y="2085305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0056" y="2206749"/>
            <a:ext cx="266719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Scheduled retraining every 90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89684" y="1304404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93269" y="1407988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93269" y="1407988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1869" y="1393701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39014" y="141084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779044" y="1424062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VARIABLE AVAILABILITY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3269" y="1636588"/>
            <a:ext cx="2557463" cy="42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Oil prices and transaction counts must be available at inference time. Forward-filling introduces approximation that may affect accuracy for true multi-step-ahead forecasts.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3269" y="2035299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93269" y="2085305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3269" y="2206749"/>
            <a:ext cx="266719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Transactions proxy via rolling-mean estimate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2897" y="1304404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36481" y="1407988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36481" y="1407988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65081" y="1393701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82226" y="141084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622256" y="1424062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EARTHQUAKE SHOCK 2016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36481" y="1636588"/>
            <a:ext cx="2557463" cy="42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2016 Ecuador earthquake created an anomalous period in the data. This may bias seasonal patterns and affect model generalization for similar rare events.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36481" y="2035299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36481" y="2085305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36481" y="2206749"/>
            <a:ext cx="266719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Outlier winsorization at 99.5th pct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6472" y="2911413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0056" y="3014997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0056" y="3014997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8656" y="3000710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95801" y="301785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935831" y="3031071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INFERENCE-TIME FEATURE GAP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0056" y="3243597"/>
            <a:ext cx="2557463" cy="42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Some features (transactions) are not known in advance for true forecasting. Requires estimation or proxy variables, adding uncertainty to multi-step-ahead predictions.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0056" y="3642308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50056" y="3692314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0056" y="3813758"/>
            <a:ext cx="255746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Proxy via 7-day rolling mean of last known transactions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3189684" y="2911413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293269" y="3014997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293269" y="3014997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21869" y="3000710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539014" y="301785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3779044" y="3031071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HETEROGENEITY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93269" y="3243597"/>
            <a:ext cx="2557463" cy="42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model for 33 diverse product families means some niche categories are under-optimized. GROCERY I and BEVERAGES dominate training signal.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93269" y="3642308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293269" y="3692314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3269" y="3813758"/>
            <a:ext cx="266719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Future: hierarchical or per-family models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2897" y="2911413"/>
            <a:ext cx="2764631" cy="1528428"/>
          </a:xfrm>
          <a:prstGeom prst="roundRect">
            <a:avLst>
              <a:gd name="adj" fmla="val 623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136481" y="3014997"/>
            <a:ext cx="171450" cy="171450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36481" y="3014997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65081" y="3000710"/>
            <a:ext cx="200025" cy="20002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382226" y="301785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6622256" y="3031071"/>
            <a:ext cx="2071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2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GEOGRAPHIC SPECIFICITY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36481" y="3243597"/>
            <a:ext cx="2557463" cy="307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trained on Ecuadorian market dynamics. Transfer to other countries requires validation and likely retraining on local data patterns.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36481" y="3528454"/>
            <a:ext cx="2557463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136481" y="3578461"/>
            <a:ext cx="25574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36481" y="3699904"/>
            <a:ext cx="255746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Re-validate + retrain on local data before deployment</a:t>
            </a:r>
            <a:endParaRPr lang="en-US" sz="619" dirty="0"/>
          </a:p>
        </p:txBody>
      </p:sp>
      <p:sp>
        <p:nvSpPr>
          <p:cNvPr id="68" name="Text 66"/>
          <p:cNvSpPr/>
          <p:nvPr/>
        </p:nvSpPr>
        <p:spPr>
          <a:xfrm>
            <a:off x="342900" y="4514850"/>
            <a:ext cx="8458200" cy="271463"/>
          </a:xfrm>
          <a:prstGeom prst="roundRect">
            <a:avLst>
              <a:gd name="adj" fmla="val 35088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42913" y="45862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70" name="Text 68"/>
          <p:cNvSpPr/>
          <p:nvPr/>
        </p:nvSpPr>
        <p:spPr>
          <a:xfrm>
            <a:off x="628650" y="4586288"/>
            <a:ext cx="80724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i="1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acknowledge these limitations transparently. Every real-world ML system has constraints. The key is understanding them, monitoring for their effects, and planning mitigations — all of which this system does.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42900" y="123230"/>
            <a:ext cx="74066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763805" y="123230"/>
            <a:ext cx="10372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&amp; limitations</a:t>
            </a:r>
            <a:endParaRPr lang="en-US" sz="619" dirty="0"/>
          </a:p>
        </p:txBody>
      </p:sp>
      <p:sp>
        <p:nvSpPr>
          <p:cNvPr id="74" name="Text 7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/ 40</a:t>
            </a:r>
            <a:endParaRPr lang="en-US" sz="619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0–6 MONTHS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Improvements — Near-Term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practical roadmap — near-term data and deployment upgrades that build directly on the existing infrastructure.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429420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29420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4381" y="1407988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9384" y="14329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107281" y="1450851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ADDITIONAL EXTERNAL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344" y="1722313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Weather features (temperature, rainfall), competitor pricing signals, macroeconomic indicators (inflation, unemployment) for richer signal set.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344" y="2050926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344" y="2100932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344" y="2222376"/>
            <a:ext cx="39433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Improved accuracy for weather-sensitive categories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8434" y="1304404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6306" y="1429420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6306" y="1429420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36344" y="1407988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61347" y="14329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5379244" y="1450851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UPGRADES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306" y="1722313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Docker containerization, cloud deployment (AWS/GCP/Azure), auto-scaling for batch prediction workloads, CI/CD integration.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306" y="2050926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6306" y="2100932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2222376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Production-grade scalability and reliability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472" y="2911413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4344" y="3036429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4344" y="3036429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4381" y="3014997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9384" y="304000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1107281" y="305786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GRANULARITY ENHANCEMENT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4344" y="3329322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Store-level models for top-performing locations. Category-specific models for high-variance families. Hierarchical forecasting structure.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344" y="3657935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4344" y="3707941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344" y="3829385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5–10% additional RMSE reduction on top segments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8434" y="2911413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6306" y="3036429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36306" y="3036429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36344" y="3014997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61347" y="304000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43" name="Text 41"/>
          <p:cNvSpPr/>
          <p:nvPr/>
        </p:nvSpPr>
        <p:spPr>
          <a:xfrm>
            <a:off x="5379244" y="305786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ENHANCEMENTS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36306" y="3329322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prediction streaming, what-if scenario analysis, automated report generation, executive summary views.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36306" y="3657935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36306" y="3707941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36306" y="3829385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Broader adoption across business teams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2900" y="4500563"/>
            <a:ext cx="8458200" cy="285750"/>
          </a:xfrm>
          <a:prstGeom prst="roundRect">
            <a:avLst>
              <a:gd name="adj" fmla="val 3333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42900" y="4504134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0" name="Shape 48"/>
          <p:cNvSpPr/>
          <p:nvPr/>
        </p:nvSpPr>
        <p:spPr>
          <a:xfrm>
            <a:off x="8797528" y="4500563"/>
            <a:ext cx="0" cy="285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1" name="Shape 49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2" name="Shape 50"/>
          <p:cNvSpPr/>
          <p:nvPr/>
        </p:nvSpPr>
        <p:spPr>
          <a:xfrm>
            <a:off x="353616" y="4500563"/>
            <a:ext cx="0" cy="28575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3" name="Text 51"/>
          <p:cNvSpPr/>
          <p:nvPr/>
        </p:nvSpPr>
        <p:spPr>
          <a:xfrm>
            <a:off x="464344" y="4579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650081" y="4579144"/>
            <a:ext cx="80438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near-term item is scoped, practical, and builds directly on the existing infrastructure — no re-architecture required.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42900" y="123230"/>
            <a:ext cx="7104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61200" y="123230"/>
            <a:ext cx="1420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improvements — near-term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 / 40</a:t>
            </a:r>
            <a:endParaRPr lang="en-US" sz="619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6+ MONTHS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Improvements — Long-Term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Long-term model and monitoring evolution — alternative architectures, real-time ingestion, and multi-market expansion.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429420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29420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4381" y="1407988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9384" y="14329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107281" y="1450851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ALTERNATIVE MODELS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344" y="1722313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Prophet for interpretable trend/seasonality. LSTM/Transformer for deep sequence modeling. Ensemble methods combining multiple architectures.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344" y="2050926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344" y="2100932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344" y="2222376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R² beyond 0.95 with hybrid modeling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8434" y="1304404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6306" y="1429420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6306" y="1429420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36344" y="1407988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61347" y="14329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5379244" y="1450851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 STRENGTHENING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306" y="1722313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SHAP value tracking for feature importance drift. A/B testing framework for model variants. Automated retraining pipelines with full CI/CD.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306" y="2050926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6306" y="2100932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2222376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Faster detection + safer deployments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472" y="2911413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4344" y="3036429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4344" y="3036429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4381" y="3014997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9384" y="304000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1107281" y="305786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INGESTION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4344" y="3329322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data pipeline (Kafka/Kinesis) for sub-daily refresh. Move from daily batch to hourly or real-time predictions for high-velocity stores.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344" y="3657935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4344" y="3707941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344" y="3829385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Hourly refresh for top 10 stores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8434" y="2911413"/>
            <a:ext cx="4179094" cy="1514140"/>
          </a:xfrm>
          <a:prstGeom prst="roundRect">
            <a:avLst>
              <a:gd name="adj" fmla="val 6291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6306" y="3036429"/>
            <a:ext cx="214313" cy="21431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36306" y="3036429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36344" y="3014997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61347" y="304000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43" name="Text 41"/>
          <p:cNvSpPr/>
          <p:nvPr/>
        </p:nvSpPr>
        <p:spPr>
          <a:xfrm>
            <a:off x="5379244" y="3057860"/>
            <a:ext cx="33004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MULTI-MARKET EXPANSION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36306" y="3329322"/>
            <a:ext cx="394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Extend to additional markets beyond Ecuador. Build a transfer-learning framework that bootstraps new markets from existing model weights.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36306" y="3657935"/>
            <a:ext cx="3943350" cy="71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36306" y="3707941"/>
            <a:ext cx="394335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68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36306" y="3829385"/>
            <a:ext cx="405307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Reusable IP across geographies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2900" y="4500563"/>
            <a:ext cx="8458200" cy="285750"/>
          </a:xfrm>
          <a:prstGeom prst="roundRect">
            <a:avLst>
              <a:gd name="adj" fmla="val 3333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42900" y="4504134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0" name="Shape 48"/>
          <p:cNvSpPr/>
          <p:nvPr/>
        </p:nvSpPr>
        <p:spPr>
          <a:xfrm>
            <a:off x="8797528" y="4500563"/>
            <a:ext cx="0" cy="285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1" name="Shape 49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2" name="Shape 50"/>
          <p:cNvSpPr/>
          <p:nvPr/>
        </p:nvSpPr>
        <p:spPr>
          <a:xfrm>
            <a:off x="353616" y="4500563"/>
            <a:ext cx="0" cy="28575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3" name="Text 51"/>
          <p:cNvSpPr/>
          <p:nvPr/>
        </p:nvSpPr>
        <p:spPr>
          <a:xfrm>
            <a:off x="464344" y="4579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650081" y="4579144"/>
            <a:ext cx="80438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roadmap is not aspirational — each item is scoped, practical, and builds directly on the existing infrastructure. The system is designed for evolution.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42900" y="123230"/>
            <a:ext cx="7104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61200" y="123230"/>
            <a:ext cx="1420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improvements — long-term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 / 40</a:t>
            </a:r>
            <a:endParaRPr lang="en-US" sz="619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SYSTEM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end-to-end sales forecasting system achieving 94% R² — from raw data to deployed decision support.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3141241" cy="2949029"/>
          </a:xfrm>
          <a:prstGeom prst="roundRect">
            <a:avLst>
              <a:gd name="adj" fmla="val 3230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436563"/>
            <a:ext cx="1987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ACHIEVEMENTS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43631" y="1397487"/>
            <a:ext cx="949070" cy="196025"/>
          </a:xfrm>
          <a:prstGeom prst="roundRect">
            <a:avLst>
              <a:gd name="adj" fmla="val 4854215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6491" y="1407988"/>
            <a:ext cx="90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4344" y="166159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35794" y="165444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 EDA revealing seasonality &amp; external factor effects</a:t>
            </a:r>
            <a:endParaRPr lang="en-US" sz="647" dirty="0"/>
          </a:p>
        </p:txBody>
      </p:sp>
      <p:sp>
        <p:nvSpPr>
          <p:cNvPr id="14" name="Text 12"/>
          <p:cNvSpPr/>
          <p:nvPr/>
        </p:nvSpPr>
        <p:spPr>
          <a:xfrm>
            <a:off x="464344" y="18330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35794" y="182589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engineered features across 4 families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344" y="200449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35794" y="199734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Time-aware validation preventing data leakage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344" y="21759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35794" y="216879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outperforming 3 alternatives by 19–99% margin</a:t>
            </a:r>
            <a:endParaRPr lang="en-US" sz="647" dirty="0"/>
          </a:p>
        </p:txBody>
      </p:sp>
      <p:sp>
        <p:nvSpPr>
          <p:cNvPr id="20" name="Text 18"/>
          <p:cNvSpPr/>
          <p:nvPr/>
        </p:nvSpPr>
        <p:spPr>
          <a:xfrm>
            <a:off x="464344" y="234739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35794" y="234024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Drift detection with automated alerts + MLflow logging</a:t>
            </a:r>
            <a:endParaRPr lang="en-US" sz="647" dirty="0"/>
          </a:p>
        </p:txBody>
      </p:sp>
      <p:sp>
        <p:nvSpPr>
          <p:cNvPr id="22" name="Text 20"/>
          <p:cNvSpPr/>
          <p:nvPr/>
        </p:nvSpPr>
        <p:spPr>
          <a:xfrm>
            <a:off x="464344" y="25188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35794" y="251169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retraining triggers (scheduled, performance, manual)</a:t>
            </a:r>
            <a:endParaRPr lang="en-US" sz="647" dirty="0"/>
          </a:p>
        </p:txBody>
      </p:sp>
      <p:sp>
        <p:nvSpPr>
          <p:cNvPr id="24" name="Text 22"/>
          <p:cNvSpPr/>
          <p:nvPr/>
        </p:nvSpPr>
        <p:spPr>
          <a:xfrm>
            <a:off x="464344" y="269029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35794" y="268314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API + interactive dashboard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4344" y="28617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8B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35794" y="2854598"/>
            <a:ext cx="2734047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647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operational use cases with quantified business impact</a:t>
            </a:r>
            <a:endParaRPr lang="en-US" sz="647" dirty="0"/>
          </a:p>
        </p:txBody>
      </p:sp>
      <p:sp>
        <p:nvSpPr>
          <p:cNvPr id="28" name="Text 26"/>
          <p:cNvSpPr/>
          <p:nvPr/>
        </p:nvSpPr>
        <p:spPr>
          <a:xfrm>
            <a:off x="3577010" y="1300832"/>
            <a:ext cx="2569183" cy="2956173"/>
          </a:xfrm>
          <a:prstGeom prst="roundRect">
            <a:avLst>
              <a:gd name="adj" fmla="val 3707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91310" y="14008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877047" y="1406203"/>
            <a:ext cx="21548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CAPABILITIES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91310" y="1600870"/>
            <a:ext cx="2340583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Multi-series forecasting:</a:t>
            </a: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1,782 store-family pairs simultaneously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3691310" y="1786161"/>
            <a:ext cx="2340583" cy="271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regressor integration: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oil, holidays, promotions, transactions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91310" y="2085305"/>
            <a:ext cx="2340583" cy="271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Time-aware generalization:</a:t>
            </a: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trained on 2013–2016, validated on 2017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91310" y="2384450"/>
            <a:ext cx="2340583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latency:</a:t>
            </a: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&lt;100ms per single prediction via FastAPI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3691310" y="2569741"/>
            <a:ext cx="245031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Reproducible artifacts:</a:t>
            </a: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MLflow + JSON metadata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6231917" y="1300832"/>
            <a:ext cx="2569183" cy="2956173"/>
          </a:xfrm>
          <a:prstGeom prst="roundRect">
            <a:avLst>
              <a:gd name="adj" fmla="val 3707"/>
            </a:avLst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46217" y="14008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6531955" y="1406203"/>
            <a:ext cx="21548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CAPABILITIES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46217" y="1600870"/>
            <a:ext cx="2340583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inventory decisions per store-product</a:t>
            </a:r>
            <a:endParaRPr lang="en-US" sz="619" dirty="0"/>
          </a:p>
        </p:txBody>
      </p:sp>
      <p:sp>
        <p:nvSpPr>
          <p:cNvPr id="40" name="Text 38"/>
          <p:cNvSpPr/>
          <p:nvPr/>
        </p:nvSpPr>
        <p:spPr>
          <a:xfrm>
            <a:off x="6346217" y="1786161"/>
            <a:ext cx="2340583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stock management for high-demand periods</a:t>
            </a:r>
            <a:endParaRPr lang="en-US" sz="619" dirty="0"/>
          </a:p>
        </p:txBody>
      </p:sp>
      <p:sp>
        <p:nvSpPr>
          <p:cNvPr id="41" name="Text 39"/>
          <p:cNvSpPr/>
          <p:nvPr/>
        </p:nvSpPr>
        <p:spPr>
          <a:xfrm>
            <a:off x="6346217" y="1971452"/>
            <a:ext cx="2450311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Optimized staffing schedules aligned to demand</a:t>
            </a:r>
            <a:endParaRPr lang="en-US" sz="619" dirty="0"/>
          </a:p>
        </p:txBody>
      </p:sp>
      <p:sp>
        <p:nvSpPr>
          <p:cNvPr id="42" name="Text 40"/>
          <p:cNvSpPr/>
          <p:nvPr/>
        </p:nvSpPr>
        <p:spPr>
          <a:xfrm>
            <a:off x="6346217" y="2156743"/>
            <a:ext cx="2450311" cy="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Targeted marketing timing for maximum promo ROI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6346217" y="2342034"/>
            <a:ext cx="234058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visibility with 30-day forward forecasts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42900" y="4328443"/>
            <a:ext cx="8458200" cy="457870"/>
          </a:xfrm>
          <a:prstGeom prst="roundRect">
            <a:avLst>
              <a:gd name="adj" fmla="val 20803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7200" y="447879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547" dirty="0"/>
          </a:p>
        </p:txBody>
      </p:sp>
      <p:sp>
        <p:nvSpPr>
          <p:cNvPr id="46" name="Text 44"/>
          <p:cNvSpPr/>
          <p:nvPr/>
        </p:nvSpPr>
        <p:spPr>
          <a:xfrm>
            <a:off x="700088" y="4414168"/>
            <a:ext cx="7986713" cy="141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not just a prediction model — it is a decision support system for retail operations.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088" y="4582716"/>
            <a:ext cx="79867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END-TO-END. · VALIDATED RIGOROUSLY. · DEPLOYED SUSTAINABLY. · READY FOR STAKEHOLDERS.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42900" y="123230"/>
            <a:ext cx="8011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25526" y="123230"/>
            <a:ext cx="5189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619" dirty="0"/>
          </a:p>
        </p:txBody>
      </p:sp>
      <p:sp>
        <p:nvSpPr>
          <p:cNvPr id="51" name="Text 49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/ 40</a:t>
            </a:r>
            <a:endParaRPr lang="en-US" sz="619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IN NUMBERS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at a Glance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complete project in numbers — one dashboard view.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4186238" cy="1412342"/>
          </a:xfrm>
          <a:prstGeom prst="roundRect">
            <a:avLst>
              <a:gd name="adj" fmla="val 67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056" y="1393701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987" y="140763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21519" y="1441921"/>
            <a:ext cx="11140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A · DATA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0056" y="1665163"/>
            <a:ext cx="1968103" cy="459656"/>
          </a:xfrm>
          <a:prstGeom prst="roundRect">
            <a:avLst>
              <a:gd name="adj" fmla="val 1243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708026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3,000,888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507206" y="1879476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TRAINING ROWS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1022" y="1665163"/>
            <a:ext cx="1968103" cy="459656"/>
          </a:xfrm>
          <a:prstGeom prst="roundRect">
            <a:avLst>
              <a:gd name="adj" fmla="val 1243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18172" y="1708026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2518172" y="1879476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FILES MERGED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0056" y="2167682"/>
            <a:ext cx="1968103" cy="459767"/>
          </a:xfrm>
          <a:prstGeom prst="roundRect">
            <a:avLst>
              <a:gd name="adj" fmla="val 124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206" y="2210544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507206" y="2381994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1022" y="2167682"/>
            <a:ext cx="1968103" cy="459767"/>
          </a:xfrm>
          <a:prstGeom prst="roundRect">
            <a:avLst>
              <a:gd name="adj" fmla="val 124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18172" y="2210544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2518172" y="2381994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FAMILIES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1291" y="1304404"/>
            <a:ext cx="4186238" cy="1412342"/>
          </a:xfrm>
          <a:prstGeom prst="roundRect">
            <a:avLst>
              <a:gd name="adj" fmla="val 67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14875" y="1402631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8805" y="14165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4986338" y="1393701"/>
            <a:ext cx="3707606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B · MODEL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86338" y="1518717"/>
            <a:ext cx="3707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· WINNER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14875" y="1683023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025" y="1725885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0.9407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4772025" y="1897335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 SCORE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5841" y="1683023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82991" y="1725885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6782991" y="1897335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14875" y="2176611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2025" y="2219474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96.36</a:t>
            </a:r>
            <a:endParaRPr lang="en-US" sz="1238" dirty="0"/>
          </a:p>
        </p:txBody>
      </p:sp>
      <p:sp>
        <p:nvSpPr>
          <p:cNvPr id="37" name="Text 35"/>
          <p:cNvSpPr/>
          <p:nvPr/>
        </p:nvSpPr>
        <p:spPr>
          <a:xfrm>
            <a:off x="4772025" y="2390924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5841" y="2176611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82991" y="2219474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475 ± 60</a:t>
            </a:r>
            <a:endParaRPr lang="en-US" sz="1238" dirty="0"/>
          </a:p>
        </p:txBody>
      </p:sp>
      <p:sp>
        <p:nvSpPr>
          <p:cNvPr id="40" name="Text 38"/>
          <p:cNvSpPr/>
          <p:nvPr/>
        </p:nvSpPr>
        <p:spPr>
          <a:xfrm>
            <a:off x="6782991" y="2390924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CV RMSE (3-FOLD)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6472" y="2795327"/>
            <a:ext cx="4186238" cy="1412342"/>
          </a:xfrm>
          <a:prstGeom prst="roundRect">
            <a:avLst>
              <a:gd name="adj" fmla="val 67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0056" y="2893554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3987" y="29074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721519" y="2884624"/>
            <a:ext cx="3707606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C · ENGINEERING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1519" y="3009640"/>
            <a:ext cx="3707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&amp; API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0056" y="3173946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7206" y="3216808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1238" dirty="0"/>
          </a:p>
        </p:txBody>
      </p:sp>
      <p:sp>
        <p:nvSpPr>
          <p:cNvPr id="48" name="Text 46"/>
          <p:cNvSpPr/>
          <p:nvPr/>
        </p:nvSpPr>
        <p:spPr>
          <a:xfrm>
            <a:off x="507206" y="3388258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FEATURES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61022" y="3173946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18172" y="3216808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51" name="Text 49"/>
          <p:cNvSpPr/>
          <p:nvPr/>
        </p:nvSpPr>
        <p:spPr>
          <a:xfrm>
            <a:off x="2518172" y="3388258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TESTED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0056" y="3667534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07206" y="3710397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507206" y="3881847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ENDPOINTS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461022" y="3667534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518172" y="3710397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38" dirty="0"/>
          </a:p>
        </p:txBody>
      </p:sp>
      <p:sp>
        <p:nvSpPr>
          <p:cNvPr id="57" name="Text 55"/>
          <p:cNvSpPr/>
          <p:nvPr/>
        </p:nvSpPr>
        <p:spPr>
          <a:xfrm>
            <a:off x="2518172" y="3881847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MODULES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11291" y="2795327"/>
            <a:ext cx="4186238" cy="1412342"/>
          </a:xfrm>
          <a:prstGeom prst="roundRect">
            <a:avLst>
              <a:gd name="adj" fmla="val 6744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14875" y="2893554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28805" y="29074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4986338" y="2884624"/>
            <a:ext cx="3707606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D · OPERATIONS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986338" y="3009640"/>
            <a:ext cx="3707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MLOPS &amp; MONITORING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14875" y="3173946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72025" y="3216808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65" name="Text 63"/>
          <p:cNvSpPr/>
          <p:nvPr/>
        </p:nvSpPr>
        <p:spPr>
          <a:xfrm>
            <a:off x="4772025" y="3388258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VERSION DEPLOYED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725841" y="3173946"/>
            <a:ext cx="1968103" cy="450726"/>
          </a:xfrm>
          <a:prstGeom prst="roundRect">
            <a:avLst>
              <a:gd name="adj" fmla="val 1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782991" y="3216808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68" name="Text 66"/>
          <p:cNvSpPr/>
          <p:nvPr/>
        </p:nvSpPr>
        <p:spPr>
          <a:xfrm>
            <a:off x="6782991" y="3388258"/>
            <a:ext cx="185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RETRAINING TRIGGERS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14875" y="3667534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772025" y="3710397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238" dirty="0"/>
          </a:p>
        </p:txBody>
      </p:sp>
      <p:sp>
        <p:nvSpPr>
          <p:cNvPr id="71" name="Text 69"/>
          <p:cNvSpPr/>
          <p:nvPr/>
        </p:nvSpPr>
        <p:spPr>
          <a:xfrm>
            <a:off x="4772025" y="3881847"/>
            <a:ext cx="19635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 MONITORED FOR DRIFT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725841" y="3667534"/>
            <a:ext cx="1968103" cy="450838"/>
          </a:xfrm>
          <a:prstGeom prst="roundRect">
            <a:avLst>
              <a:gd name="adj" fmla="val 126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782991" y="3710397"/>
            <a:ext cx="18538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kern="0" spc="-25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 days</a:t>
            </a:r>
            <a:endParaRPr lang="en-US" sz="1238" dirty="0"/>
          </a:p>
        </p:txBody>
      </p:sp>
      <p:sp>
        <p:nvSpPr>
          <p:cNvPr id="74" name="Text 72"/>
          <p:cNvSpPr/>
          <p:nvPr/>
        </p:nvSpPr>
        <p:spPr>
          <a:xfrm>
            <a:off x="6782991" y="3881847"/>
            <a:ext cx="19635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SCHEDULED RETRAINING CADENCE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42900" y="4282678"/>
            <a:ext cx="8458200" cy="503634"/>
          </a:xfrm>
          <a:prstGeom prst="roundRect">
            <a:avLst>
              <a:gd name="adj" fmla="val 1891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342900" y="4286250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7" name="Shape 75"/>
          <p:cNvSpPr/>
          <p:nvPr/>
        </p:nvSpPr>
        <p:spPr>
          <a:xfrm>
            <a:off x="8797528" y="4282678"/>
            <a:ext cx="0" cy="50363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8" name="Shape 76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9" name="Shape 77"/>
          <p:cNvSpPr/>
          <p:nvPr/>
        </p:nvSpPr>
        <p:spPr>
          <a:xfrm>
            <a:off x="353616" y="4282678"/>
            <a:ext cx="0" cy="503634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0" name="Text 78"/>
          <p:cNvSpPr/>
          <p:nvPr/>
        </p:nvSpPr>
        <p:spPr>
          <a:xfrm>
            <a:off x="464344" y="43612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81" name="Text 79"/>
          <p:cNvSpPr/>
          <p:nvPr/>
        </p:nvSpPr>
        <p:spPr>
          <a:xfrm>
            <a:off x="650081" y="4366617"/>
            <a:ext cx="80438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MILESTONE ARC · FROM RAW CSVS TO DEPLOYED V1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64344" y="4522208"/>
            <a:ext cx="782464" cy="196025"/>
          </a:xfrm>
          <a:prstGeom prst="roundRect">
            <a:avLst>
              <a:gd name="adj" fmla="val 29154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64344" y="4532709"/>
            <a:ext cx="7824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Data 01 (3M rows)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275383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85" name="Text 83"/>
          <p:cNvSpPr/>
          <p:nvPr/>
        </p:nvSpPr>
        <p:spPr>
          <a:xfrm>
            <a:off x="1403970" y="4532709"/>
            <a:ext cx="1290451" cy="175022"/>
          </a:xfrm>
          <a:prstGeom prst="roundRect">
            <a:avLst>
              <a:gd name="adj" fmla="val 32653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403970" y="4532709"/>
            <a:ext cx="1304739" cy="175022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EDA 02 (seasonality confirmed)</a:t>
            </a:r>
            <a:endParaRPr lang="en-US" sz="619" dirty="0"/>
          </a:p>
        </p:txBody>
      </p:sp>
      <p:sp>
        <p:nvSpPr>
          <p:cNvPr id="87" name="Text 85"/>
          <p:cNvSpPr/>
          <p:nvPr/>
        </p:nvSpPr>
        <p:spPr>
          <a:xfrm>
            <a:off x="2722997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88" name="Text 86"/>
          <p:cNvSpPr/>
          <p:nvPr/>
        </p:nvSpPr>
        <p:spPr>
          <a:xfrm>
            <a:off x="2851584" y="4532709"/>
            <a:ext cx="1040309" cy="175022"/>
          </a:xfrm>
          <a:prstGeom prst="roundRect">
            <a:avLst>
              <a:gd name="adj" fmla="val 32653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2851584" y="4532709"/>
            <a:ext cx="1054596" cy="175022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Features 03 (20 features)</a:t>
            </a:r>
            <a:endParaRPr lang="en-US" sz="619" dirty="0"/>
          </a:p>
        </p:txBody>
      </p:sp>
      <p:sp>
        <p:nvSpPr>
          <p:cNvPr id="90" name="Text 88"/>
          <p:cNvSpPr/>
          <p:nvPr/>
        </p:nvSpPr>
        <p:spPr>
          <a:xfrm>
            <a:off x="3920468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91" name="Text 89"/>
          <p:cNvSpPr/>
          <p:nvPr/>
        </p:nvSpPr>
        <p:spPr>
          <a:xfrm>
            <a:off x="4049055" y="4522208"/>
            <a:ext cx="1101142" cy="196025"/>
          </a:xfrm>
          <a:prstGeom prst="roundRect">
            <a:avLst>
              <a:gd name="adj" fmla="val 29154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4049055" y="4532709"/>
            <a:ext cx="11011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Models 04 (XGBoost wins)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178772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94" name="Text 92"/>
          <p:cNvSpPr/>
          <p:nvPr/>
        </p:nvSpPr>
        <p:spPr>
          <a:xfrm>
            <a:off x="5307360" y="4532709"/>
            <a:ext cx="1278173" cy="175022"/>
          </a:xfrm>
          <a:prstGeom prst="roundRect">
            <a:avLst>
              <a:gd name="adj" fmla="val 32653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307360" y="4532709"/>
            <a:ext cx="1292461" cy="175022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Deploy 05 (FastAPI + Streamlit)</a:t>
            </a:r>
            <a:endParaRPr lang="en-US" sz="619" dirty="0"/>
          </a:p>
        </p:txBody>
      </p:sp>
      <p:sp>
        <p:nvSpPr>
          <p:cNvPr id="96" name="Text 94"/>
          <p:cNvSpPr/>
          <p:nvPr/>
        </p:nvSpPr>
        <p:spPr>
          <a:xfrm>
            <a:off x="6614108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97" name="Text 95"/>
          <p:cNvSpPr/>
          <p:nvPr/>
        </p:nvSpPr>
        <p:spPr>
          <a:xfrm>
            <a:off x="6742695" y="4532709"/>
            <a:ext cx="1109625" cy="175022"/>
          </a:xfrm>
          <a:prstGeom prst="roundRect">
            <a:avLst>
              <a:gd name="adj" fmla="val 32653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742695" y="4532709"/>
            <a:ext cx="1123913" cy="175022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Monitor 06 (drift detection)</a:t>
            </a:r>
            <a:endParaRPr lang="en-US" sz="619" dirty="0"/>
          </a:p>
        </p:txBody>
      </p:sp>
      <p:sp>
        <p:nvSpPr>
          <p:cNvPr id="99" name="Text 97"/>
          <p:cNvSpPr/>
          <p:nvPr/>
        </p:nvSpPr>
        <p:spPr>
          <a:xfrm>
            <a:off x="7880896" y="45702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00" name="Text 98"/>
          <p:cNvSpPr/>
          <p:nvPr/>
        </p:nvSpPr>
        <p:spPr>
          <a:xfrm>
            <a:off x="8009483" y="4522208"/>
            <a:ext cx="944314" cy="196025"/>
          </a:xfrm>
          <a:prstGeom prst="roundRect">
            <a:avLst>
              <a:gd name="adj" fmla="val 29154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7749629" y="4532709"/>
            <a:ext cx="9443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Value 07 (5 use cases)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342900" y="123230"/>
            <a:ext cx="7622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7979904" y="123230"/>
            <a:ext cx="8211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at a glance</a:t>
            </a:r>
            <a:endParaRPr lang="en-US" sz="619" dirty="0"/>
          </a:p>
        </p:txBody>
      </p:sp>
      <p:sp>
        <p:nvSpPr>
          <p:cNvPr id="105" name="Text 103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 / 40</a:t>
            </a:r>
            <a:endParaRPr lang="en-US" sz="619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 PROJECT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 Coverage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Milestone coverage — every requirement from the official project brief is met.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04404"/>
            <a:ext cx="8451056" cy="3121149"/>
          </a:xfrm>
          <a:prstGeom prst="roundRect">
            <a:avLst>
              <a:gd name="adj" fmla="val 3052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044" y="1307976"/>
          <a:ext cx="8443913" cy="3094674"/>
        </p:xfrm>
        <a:graphic>
          <a:graphicData uri="http://schemas.openxmlformats.org/drawingml/2006/table">
            <a:tbl>
              <a:tblPr/>
              <a:tblGrid>
                <a:gridCol w="1519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Milestone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Deliverables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Artifacts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M1 · Data Collection, Exploration &amp; Preprocessing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✓EDA Report (14 EDA visualizations + insights) ✓Interactive Visualizations (Plotly charts in notebook) ✓Cleaned Dataset (clean_store_sales.csv 3M × 22)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train/stores/oil/holidays/transactions merge, missing value handling, outlier winsorization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M2 · Advanced Analysis &amp; Feature Engineering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✓Data Analysis Report (ADF test, decomposition, correlations) ✓Enhanced Visualizations (interactive Plotly + decomposition) ✓Feature Engineering Summary (20 features across 4 families)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time-based features, holiday encoding, cyclical sin/cos, lag features (created + excluded)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M3 · Model Development &amp; Optimization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✓Model Evaluation Report (4-model comparison table) ✓Model Code (notebook Cells 117–163) ✓Final Model (XGBoost Regressor R² 0.9407)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TimeSeriesSplit CV, hyperparameter tuning, residual analysis, model comparison JSON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M4 · MLOps, Deployment &amp; Monitoring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✓Deployed Model (FastAPI + Streamlit dashboard) ✓MLOps Report (MLflow tracking + experiment logging) ✓Monitoring Setup (drift detection + retraining config)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 API endpoints, 7 dashboard modules, KS-test drift detection, 3 retraining triggers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M5 · Final Documentation &amp; Presentation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✓Final Project Report (Sales_Forecasting_Project_Documentation.pdf) ✓Final Presentation (This deck, 40 slides) ✓Future Improvements (Near-term + long-term roadmap)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business impact analysis, limitations, future roadmap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42900" y="4500563"/>
            <a:ext cx="8458200" cy="285750"/>
          </a:xfrm>
          <a:prstGeom prst="roundRect">
            <a:avLst>
              <a:gd name="adj" fmla="val 3333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42900" y="4504134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9"/>
          <p:cNvSpPr/>
          <p:nvPr/>
        </p:nvSpPr>
        <p:spPr>
          <a:xfrm>
            <a:off x="8797528" y="4500563"/>
            <a:ext cx="0" cy="285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0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1"/>
          <p:cNvSpPr/>
          <p:nvPr/>
        </p:nvSpPr>
        <p:spPr>
          <a:xfrm>
            <a:off x="353616" y="4500563"/>
            <a:ext cx="0" cy="28575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464344" y="4579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650081" y="4579144"/>
            <a:ext cx="80438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5 milestones covered. · All 14 deliverables produced. · Ready for final evaluation.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42900" y="123230"/>
            <a:ext cx="75362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93397" y="123230"/>
            <a:ext cx="907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coverage</a:t>
            </a:r>
            <a:endParaRPr lang="en-US" sz="619" dirty="0"/>
          </a:p>
        </p:txBody>
      </p:sp>
      <p:sp>
        <p:nvSpPr>
          <p:cNvPr id="20" name="Text 1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 / 40</a:t>
            </a:r>
            <a:endParaRPr lang="en-US" sz="619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5-STAGE PIPELINE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Architecture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complete pipeline — from raw Kaggle CSVs to live business decisions.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32979"/>
            <a:ext cx="1498736" cy="3063999"/>
          </a:xfrm>
          <a:prstGeom prst="roundRect">
            <a:avLst>
              <a:gd name="adj" fmla="val 635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769" y="1443707"/>
            <a:ext cx="171450" cy="17145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5769" y="1443707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41599" y="1422276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55529" y="14362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435769" y="1693738"/>
            <a:ext cx="132014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5769" y="1879476"/>
            <a:ext cx="1399351" cy="116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train.csv</a:t>
            </a:r>
            <a:r>
              <a:rPr lang="en-US" sz="6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3,000,888 rows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35769" y="2023579"/>
            <a:ext cx="1320143" cy="116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stores.csv</a:t>
            </a: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54 stores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769" y="2167682"/>
            <a:ext cx="1399351" cy="116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holidays_events.csv</a:t>
            </a:r>
            <a:r>
              <a:rPr lang="en-US" sz="6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350 events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35769" y="2311784"/>
            <a:ext cx="1320143" cy="116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oil.csv</a:t>
            </a: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1,218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5769" y="2455887"/>
            <a:ext cx="1399351" cy="15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transactions.csv</a:t>
            </a:r>
            <a:r>
              <a:rPr lang="en-US" sz="6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83,490 records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891643" y="2793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2080952" y="1332979"/>
            <a:ext cx="1498848" cy="3063999"/>
          </a:xfrm>
          <a:prstGeom prst="roundRect">
            <a:avLst>
              <a:gd name="adj" fmla="val 635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70249" y="1443707"/>
            <a:ext cx="171450" cy="17145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70249" y="1443707"/>
            <a:ext cx="10916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76191" y="1422276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90121" y="14362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2170249" y="1693738"/>
            <a:ext cx="132025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PREPROCESS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70249" y="1879476"/>
            <a:ext cx="1399470" cy="10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parsing → datetime index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170249" y="2016435"/>
            <a:ext cx="1425875" cy="10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Multi-file merge (left-join on date)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170249" y="2153394"/>
            <a:ext cx="1425875" cy="10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value handling (ffill + median)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170249" y="2290353"/>
            <a:ext cx="1425875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Outlier winsorization (99.5th pct cap)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147389" y="4133517"/>
            <a:ext cx="1365974" cy="184023"/>
          </a:xfrm>
          <a:prstGeom prst="roundRect">
            <a:avLst>
              <a:gd name="adj" fmla="val 20704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70249" y="4143375"/>
            <a:ext cx="13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tidy dataframe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26234" y="2793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3815544" y="1332979"/>
            <a:ext cx="1498736" cy="3063999"/>
          </a:xfrm>
          <a:prstGeom prst="roundRect">
            <a:avLst>
              <a:gd name="adj" fmla="val 635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904841" y="1443707"/>
            <a:ext cx="171450" cy="17145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04841" y="1443707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10671" y="1422276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24601" y="14362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3904841" y="1693738"/>
            <a:ext cx="132014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04841" y="1879476"/>
            <a:ext cx="1268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features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87479" y="1879476"/>
            <a:ext cx="9144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04841" y="2016435"/>
            <a:ext cx="1268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Holiday features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87479" y="2016435"/>
            <a:ext cx="9144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04841" y="2153394"/>
            <a:ext cx="1268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signals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87479" y="2153394"/>
            <a:ext cx="9144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04841" y="2290353"/>
            <a:ext cx="126835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metadata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87479" y="2290353"/>
            <a:ext cx="91440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04841" y="4036219"/>
            <a:ext cx="1320143" cy="271463"/>
          </a:xfrm>
          <a:prstGeom prst="roundRect">
            <a:avLst>
              <a:gd name="adj" fmla="val 14035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904841" y="4036219"/>
            <a:ext cx="1320143" cy="271463"/>
          </a:xfrm>
          <a:prstGeom prst="rect">
            <a:avLst/>
          </a:prstGeom>
          <a:noFill/>
          <a:ln/>
        </p:spPr>
        <p:txBody>
          <a:bodyPr wrap="square" lIns="42863" tIns="28575" rIns="42863" bIns="28575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0E8A8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features → clean_store_sales.csv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60715" y="2793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547" dirty="0"/>
          </a:p>
        </p:txBody>
      </p:sp>
      <p:sp>
        <p:nvSpPr>
          <p:cNvPr id="50" name="Text 48"/>
          <p:cNvSpPr/>
          <p:nvPr/>
        </p:nvSpPr>
        <p:spPr>
          <a:xfrm>
            <a:off x="5553596" y="1336551"/>
            <a:ext cx="1505880" cy="3056855"/>
          </a:xfrm>
          <a:prstGeom prst="roundRect">
            <a:avLst>
              <a:gd name="adj" fmla="val 6325"/>
            </a:avLst>
          </a:prstGeom>
          <a:solidFill>
            <a:srgbClr val="FAFBFC"/>
          </a:solidFill>
          <a:ln w="14288">
            <a:solidFill>
              <a:srgbClr val="13B5B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46465" y="1450851"/>
            <a:ext cx="171450" cy="17145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46465" y="1450851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52295" y="1429420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66225" y="14433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55" name="Text 53"/>
          <p:cNvSpPr/>
          <p:nvPr/>
        </p:nvSpPr>
        <p:spPr>
          <a:xfrm>
            <a:off x="5646465" y="1700882"/>
            <a:ext cx="132014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46465" y="1886620"/>
            <a:ext cx="1320143" cy="325041"/>
          </a:xfrm>
          <a:prstGeom prst="roundRect">
            <a:avLst>
              <a:gd name="adj" fmla="val 1465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703615" y="1929482"/>
            <a:ext cx="1205843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WINNER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703615" y="2061642"/>
            <a:ext cx="12058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13B5B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 0.9407 · RMSE 331.61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646465" y="2254523"/>
            <a:ext cx="1320143" cy="9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 (baseline)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646465" y="2380543"/>
            <a:ext cx="1399351" cy="9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Regression (baseline)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646465" y="2506563"/>
            <a:ext cx="1320143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SARIMA (statistical)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109482" y="2793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547" dirty="0"/>
          </a:p>
        </p:txBody>
      </p:sp>
      <p:sp>
        <p:nvSpPr>
          <p:cNvPr id="63" name="Text 61"/>
          <p:cNvSpPr/>
          <p:nvPr/>
        </p:nvSpPr>
        <p:spPr>
          <a:xfrm>
            <a:off x="7298792" y="1332979"/>
            <a:ext cx="1498736" cy="3063999"/>
          </a:xfrm>
          <a:prstGeom prst="roundRect">
            <a:avLst>
              <a:gd name="adj" fmla="val 6355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88089" y="1443707"/>
            <a:ext cx="171450" cy="171450"/>
          </a:xfrm>
          <a:prstGeom prst="ellipse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88089" y="1443707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493919" y="1422276"/>
            <a:ext cx="214313" cy="214313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507849" y="14362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68" name="Text 66"/>
          <p:cNvSpPr/>
          <p:nvPr/>
        </p:nvSpPr>
        <p:spPr>
          <a:xfrm>
            <a:off x="7388089" y="1693738"/>
            <a:ext cx="132014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88089" y="1879476"/>
            <a:ext cx="1320143" cy="109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</a:t>
            </a: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7 endpoints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88089" y="2016435"/>
            <a:ext cx="1320143" cy="109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</a:t>
            </a: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7 modules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388089" y="2153394"/>
            <a:ext cx="1399351" cy="10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</a:t>
            </a: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experiment tracking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388089" y="2290353"/>
            <a:ext cx="1399351" cy="10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6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 (drift detection)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388089" y="2427312"/>
            <a:ext cx="1320143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Retraining (3 triggers)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42900" y="4500563"/>
            <a:ext cx="8458200" cy="285750"/>
          </a:xfrm>
          <a:prstGeom prst="roundRect">
            <a:avLst>
              <a:gd name="adj" fmla="val 33333"/>
            </a:avLst>
          </a:prstGeom>
          <a:solidFill>
            <a:srgbClr val="FA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342900" y="4504134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6" name="Shape 74"/>
          <p:cNvSpPr/>
          <p:nvPr/>
        </p:nvSpPr>
        <p:spPr>
          <a:xfrm>
            <a:off x="8797528" y="4500563"/>
            <a:ext cx="0" cy="285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7" name="Shape 75"/>
          <p:cNvSpPr/>
          <p:nvPr/>
        </p:nvSpPr>
        <p:spPr>
          <a:xfrm>
            <a:off x="342900" y="4782741"/>
            <a:ext cx="8458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8" name="Shape 76"/>
          <p:cNvSpPr/>
          <p:nvPr/>
        </p:nvSpPr>
        <p:spPr>
          <a:xfrm>
            <a:off x="353616" y="4500563"/>
            <a:ext cx="0" cy="285750"/>
          </a:xfrm>
          <a:prstGeom prst="line">
            <a:avLst/>
          </a:prstGeom>
          <a:noFill/>
          <a:ln w="21431">
            <a:solidFill>
              <a:srgbClr val="13B5B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9" name="Text 77"/>
          <p:cNvSpPr/>
          <p:nvPr/>
        </p:nvSpPr>
        <p:spPr>
          <a:xfrm>
            <a:off x="464344" y="4579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80" name="Text 78"/>
          <p:cNvSpPr/>
          <p:nvPr/>
        </p:nvSpPr>
        <p:spPr>
          <a:xfrm>
            <a:off x="650081" y="4579144"/>
            <a:ext cx="80438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is reproducible, version-controlled, and independently testable — the system is designed for evolution, not just delivery.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342900" y="123230"/>
            <a:ext cx="74498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807003" y="123230"/>
            <a:ext cx="994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architecture</a:t>
            </a:r>
            <a:endParaRPr lang="en-US" sz="619" dirty="0"/>
          </a:p>
        </p:txBody>
      </p:sp>
      <p:sp>
        <p:nvSpPr>
          <p:cNvPr id="84" name="Text 8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 / 40</a:t>
            </a:r>
            <a:endParaRPr lang="en-US" sz="619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7903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42900" y="528638"/>
            <a:ext cx="863600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INSTRUCTORS · STAKEHOLDERS · MAINTAINERS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689372"/>
            <a:ext cx="8636000" cy="25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42900" y="97222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takeaways to remember — for instructors, stakeholders, and future maintainers.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" y="11936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472" y="1318692"/>
            <a:ext cx="8451056" cy="477850"/>
          </a:xfrm>
          <a:prstGeom prst="roundRect">
            <a:avLst>
              <a:gd name="adj" fmla="val 1993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344" y="1421829"/>
            <a:ext cx="271463" cy="2714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21829"/>
            <a:ext cx="32146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28973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0822" y="145397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193006" y="1407988"/>
            <a:ext cx="7486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 IS REAL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1193006" y="1583010"/>
            <a:ext cx="748665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Retail forecasting drives 5 operational decisions — inventory, replenishment, staffing, marketing, supply chain. Poor forecasting cascades into 4%+ revenue loss annually.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46472" y="1860835"/>
            <a:ext cx="8451056" cy="477850"/>
          </a:xfrm>
          <a:prstGeom prst="roundRect">
            <a:avLst>
              <a:gd name="adj" fmla="val 1993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344" y="1963973"/>
            <a:ext cx="271463" cy="2714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4344" y="1963973"/>
            <a:ext cx="32146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5819" y="1971117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0822" y="199612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193006" y="1950132"/>
            <a:ext cx="7486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DATA IS RICH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1193006" y="2125154"/>
            <a:ext cx="748665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source files, 3M+ rows, 4 external signal layers (oil, holidays, promotions, transactions). The dataset validates every modeling decision through EDA.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46472" y="2402979"/>
            <a:ext cx="8451056" cy="477850"/>
          </a:xfrm>
          <a:prstGeom prst="roundRect">
            <a:avLst>
              <a:gd name="adj" fmla="val 1993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344" y="2506117"/>
            <a:ext cx="271463" cy="2714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344" y="2506117"/>
            <a:ext cx="32146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5819" y="2513261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60822" y="25382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1193006" y="2492276"/>
            <a:ext cx="7486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METHOD IS RIGOROUS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1193006" y="2667298"/>
            <a:ext cx="748665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Time-aware validation (chronological 80/20 + 3-fold TimeSeriesSplit). Zero data leakage. 4 models compared on identical protocol. XGBoost wins by 19% RMSE margin.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46472" y="2945123"/>
            <a:ext cx="8451056" cy="477850"/>
          </a:xfrm>
          <a:prstGeom prst="roundRect">
            <a:avLst>
              <a:gd name="adj" fmla="val 1993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4344" y="3048260"/>
            <a:ext cx="271463" cy="2714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4344" y="3048260"/>
            <a:ext cx="32146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5819" y="3055404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0822" y="308040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34" name="Text 32"/>
          <p:cNvSpPr/>
          <p:nvPr/>
        </p:nvSpPr>
        <p:spPr>
          <a:xfrm>
            <a:off x="1193006" y="3034419"/>
            <a:ext cx="7596378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IS PRODUCTION-READY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1193006" y="3209441"/>
            <a:ext cx="748665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Three-layer deployment (FastAPI + Streamlit + MLflow). 7 API endpoints. 7 dashboard modules. Automated drift detection on 14 features. Three retraining triggers.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46472" y="3487266"/>
            <a:ext cx="8451056" cy="477850"/>
          </a:xfrm>
          <a:prstGeom prst="roundRect">
            <a:avLst>
              <a:gd name="adj" fmla="val 19933"/>
            </a:avLst>
          </a:prstGeom>
          <a:solidFill>
            <a:srgbClr val="FAFB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4344" y="3590404"/>
            <a:ext cx="271463" cy="271463"/>
          </a:xfrm>
          <a:prstGeom prst="ellipse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4344" y="3590404"/>
            <a:ext cx="32146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5819" y="3597548"/>
            <a:ext cx="257175" cy="257175"/>
          </a:xfrm>
          <a:prstGeom prst="ellipse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60822" y="362255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1193006" y="3576563"/>
            <a:ext cx="7486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-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VALUE IS OPERATIONAL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1193006" y="3751585"/>
            <a:ext cx="748665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business use cases with quantified impact: 15–20% overstock reduction, 25–30% fewer stockouts, 10–15% overtime reduction, maximum promo ROI, 30-day forward forecasts.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342900" y="4457700"/>
            <a:ext cx="8458200" cy="328613"/>
          </a:xfrm>
          <a:prstGeom prst="roundRect">
            <a:avLst>
              <a:gd name="adj" fmla="val 2898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1488" y="454342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13B5B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3"/>
          <p:cNvSpPr/>
          <p:nvPr/>
        </p:nvSpPr>
        <p:spPr>
          <a:xfrm>
            <a:off x="714375" y="4552020"/>
            <a:ext cx="795813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raw Kaggle CSVs to deployed decision support — built end-to-end, validated rigorously, ready for stakeholders.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91440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2900" y="123230"/>
            <a:ext cx="78820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07 </a:t>
            </a:r>
            <a:r>
              <a:rPr lang="en-US" sz="800" kern="0" spc="74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BUSINESS IMPACT &amp; FUTURE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199475" y="123230"/>
            <a:ext cx="6413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1" dirty="0">
                <a:solidFill>
                  <a:srgbClr val="8895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42900" y="4959548"/>
            <a:ext cx="81688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Forecasting &amp; Demand Prediction </a:t>
            </a:r>
            <a:r>
              <a:rPr lang="en-US" sz="800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Final Graduation Deck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88024" y="4959548"/>
            <a:ext cx="35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 / 40</a:t>
            </a:r>
            <a:endParaRPr lang="en-US" sz="619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281968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DATA SCIENCE TRACK · FINAL GRADUATION PROJECT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528428"/>
            <a:ext cx="457200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b="1" kern="0" spc="-27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Q&amp;A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457200" y="2557128"/>
            <a:ext cx="571500" cy="21431"/>
          </a:xfrm>
          <a:prstGeom prst="roundRect">
            <a:avLst>
              <a:gd name="adj" fmla="val 88890"/>
            </a:avLst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07146"/>
            <a:ext cx="4572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kern="0" spc="-1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57200" y="3004282"/>
            <a:ext cx="46817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 for your attention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432907"/>
            <a:ext cx="1826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Contact: Data Science Capstone Team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2233985" y="344362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88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41587" y="3443622"/>
            <a:ext cx="2687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88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July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657935"/>
            <a:ext cx="3402099" cy="203597"/>
          </a:xfrm>
          <a:prstGeom prst="roundRect">
            <a:avLst>
              <a:gd name="adj" fmla="val 4673681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657935"/>
            <a:ext cx="3402099" cy="284295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0E8A8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· 94% R² · 3M+ RECORDS · 54 STORES · 33 PRODUCT FAMILIES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0" y="0"/>
            <a:ext cx="21431" cy="5143500"/>
          </a:xfrm>
          <a:prstGeom prst="rect">
            <a:avLst/>
          </a:prstGeom>
          <a:solidFill>
            <a:srgbClr val="13B5B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29638" y="4529138"/>
            <a:ext cx="57150" cy="57150"/>
          </a:xfrm>
          <a:prstGeom prst="ellipse">
            <a:avLst/>
          </a:prstGeom>
          <a:solidFill>
            <a:srgbClr val="13B5B1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29650" y="4529138"/>
            <a:ext cx="57150" cy="57150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29663" y="4529138"/>
            <a:ext cx="57150" cy="57150"/>
          </a:xfrm>
          <a:prstGeom prst="ellipse">
            <a:avLst/>
          </a:prstGeom>
          <a:solidFill>
            <a:srgbClr val="13B5B1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29675" y="4529138"/>
            <a:ext cx="57150" cy="57150"/>
          </a:xfrm>
          <a:prstGeom prst="ellipse">
            <a:avLst/>
          </a:prstGeom>
          <a:solidFill>
            <a:srgbClr val="13B5B1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29638" y="4629150"/>
            <a:ext cx="57150" cy="57150"/>
          </a:xfrm>
          <a:prstGeom prst="ellipse">
            <a:avLst/>
          </a:prstGeom>
          <a:solidFill>
            <a:srgbClr val="13B5B1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29650" y="4629150"/>
            <a:ext cx="57150" cy="57150"/>
          </a:xfrm>
          <a:prstGeom prst="ellipse">
            <a:avLst/>
          </a:prstGeom>
          <a:solidFill>
            <a:srgbClr val="13B5B1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729663" y="4629150"/>
            <a:ext cx="57150" cy="57150"/>
          </a:xfrm>
          <a:prstGeom prst="ellipse">
            <a:avLst/>
          </a:prstGeom>
          <a:solidFill>
            <a:srgbClr val="13B5B1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29675" y="4629150"/>
            <a:ext cx="57150" cy="57150"/>
          </a:xfrm>
          <a:prstGeom prst="ellipse">
            <a:avLst/>
          </a:prstGeom>
          <a:solidFill>
            <a:srgbClr val="13B5B1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29638" y="4729163"/>
            <a:ext cx="57150" cy="57150"/>
          </a:xfrm>
          <a:prstGeom prst="ellipse">
            <a:avLst/>
          </a:prstGeom>
          <a:solidFill>
            <a:srgbClr val="13B5B1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29650" y="4729163"/>
            <a:ext cx="57150" cy="57150"/>
          </a:xfrm>
          <a:prstGeom prst="ellipse">
            <a:avLst/>
          </a:prstGeom>
          <a:solidFill>
            <a:srgbClr val="13B5B1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729663" y="4729163"/>
            <a:ext cx="57150" cy="57150"/>
          </a:xfrm>
          <a:prstGeom prst="ellipse">
            <a:avLst/>
          </a:prstGeom>
          <a:solidFill>
            <a:srgbClr val="13B5B1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29675" y="4729163"/>
            <a:ext cx="57150" cy="57150"/>
          </a:xfrm>
          <a:prstGeom prst="ellipse">
            <a:avLst/>
          </a:prstGeom>
          <a:solidFill>
            <a:srgbClr val="13B5B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29638" y="4829175"/>
            <a:ext cx="57150" cy="57150"/>
          </a:xfrm>
          <a:prstGeom prst="ellipse">
            <a:avLst/>
          </a:prstGeom>
          <a:solidFill>
            <a:srgbClr val="13B5B1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29650" y="4829175"/>
            <a:ext cx="57150" cy="57150"/>
          </a:xfrm>
          <a:prstGeom prst="ellipse">
            <a:avLst/>
          </a:prstGeom>
          <a:solidFill>
            <a:srgbClr val="13B5B1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729663" y="4829175"/>
            <a:ext cx="57150" cy="57150"/>
          </a:xfrm>
          <a:prstGeom prst="ellipse">
            <a:avLst/>
          </a:prstGeom>
          <a:solidFill>
            <a:srgbClr val="13B5B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29675" y="4829175"/>
            <a:ext cx="57150" cy="57150"/>
          </a:xfrm>
          <a:prstGeom prst="ellipse">
            <a:avLst/>
          </a:prstGeom>
          <a:solidFill>
            <a:srgbClr val="13B5B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29300" y="785589"/>
            <a:ext cx="2971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111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HEADLINES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29300" y="1103486"/>
            <a:ext cx="29718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5829300" y="1546399"/>
            <a:ext cx="297180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29300" y="1678558"/>
            <a:ext cx="297180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Holdout fit quality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9300" y="1959955"/>
            <a:ext cx="29718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331.61</a:t>
            </a:r>
            <a:endParaRPr lang="en-US" sz="3150" dirty="0"/>
          </a:p>
        </p:txBody>
      </p:sp>
      <p:sp>
        <p:nvSpPr>
          <p:cNvPr id="36" name="Text 34"/>
          <p:cNvSpPr/>
          <p:nvPr/>
        </p:nvSpPr>
        <p:spPr>
          <a:xfrm>
            <a:off x="5829300" y="2402867"/>
            <a:ext cx="297180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29300" y="2535027"/>
            <a:ext cx="297180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unit-sales error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29300" y="2816423"/>
            <a:ext cx="29718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96.36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5829300" y="3259336"/>
            <a:ext cx="297180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29300" y="3391495"/>
            <a:ext cx="297180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absolute error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29300" y="3672892"/>
            <a:ext cx="297180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2.4M</a:t>
            </a:r>
            <a:endParaRPr lang="en-US" sz="3150" dirty="0"/>
          </a:p>
        </p:txBody>
      </p:sp>
      <p:sp>
        <p:nvSpPr>
          <p:cNvPr id="42" name="Text 40"/>
          <p:cNvSpPr/>
          <p:nvPr/>
        </p:nvSpPr>
        <p:spPr>
          <a:xfrm>
            <a:off x="5829300" y="4115805"/>
            <a:ext cx="297180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>
                <a:solidFill>
                  <a:srgbClr val="13B5B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ROWS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29300" y="4247964"/>
            <a:ext cx="297180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2013–2016 train set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7382</Words>
  <Application>Microsoft Office PowerPoint</Application>
  <PresentationFormat>On-screen Show (16:9)</PresentationFormat>
  <Paragraphs>1640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Yousuf Ali</cp:lastModifiedBy>
  <cp:revision>2</cp:revision>
  <dcterms:created xsi:type="dcterms:W3CDTF">2026-07-10T22:26:38Z</dcterms:created>
  <dcterms:modified xsi:type="dcterms:W3CDTF">2026-07-10T22:50:10Z</dcterms:modified>
</cp:coreProperties>
</file>